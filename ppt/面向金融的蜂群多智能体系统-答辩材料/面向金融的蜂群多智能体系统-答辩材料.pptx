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3.xml" ContentType="application/vnd.openxmlformats-officedocument.presentationml.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3" Type="http://schemas.openxmlformats.org/officeDocument/2006/relationships/slide" Target="slides/slide3.xml" /><Relationship Id="rId15" Type="http://schemas.openxmlformats.org/officeDocument/2006/relationships/presProps" Target="presProps.xml" /><Relationship Id="rId0" Type="http://schemas.openxmlformats.org/officeDocument/2006/relationships/slideMaster" Target="slideMasters/slideMaster1.xml" /><Relationship Id="rId12" Type="http://schemas.openxmlformats.org/officeDocument/2006/relationships/slide" Target="slides/slide12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10" Type="http://schemas.openxmlformats.org/officeDocument/2006/relationships/slide" Target="slides/slide10.xml" /><Relationship Id="rId14" Type="http://schemas.openxmlformats.org/officeDocument/2006/relationships/notesMaster" Target="notesMasters/notesMaster1.xml" /><Relationship Id="rId11" Type="http://schemas.openxmlformats.org/officeDocument/2006/relationships/slide" Target="slides/slide11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background: &quot;#0B1220&quot;, padding: &quot;42px 72px 40px&quot;, display: &quot;flex&quot;, flexDirection: &quot;column&quot; }}&gt;&#10;  &lt;Text style={{ color: &quot;#F59E0B&quot;, fontSize: 15, letterSpacing: 5, fontWeight: 600 }}&gt;2026 FINTECHATHON · 人工智能赛道&lt;/Text&gt;&#10;  &lt;Text style={{ color: &quot;#F7F4EC&quot;, fontSize: 66, fontWeight: 700, lineHeight: 1.2, marginTop: 20 }}&gt;面向金融的蜂群多智能体系统&lt;/Text&gt;&#10;  &lt;Box style={{ width: 96, height: 6, background: &quot;#22C55E&quot;, marginTop: 16 }} /&gt;&#10;  &lt;Text style={{ color: &quot;#9CA3AF&quot;, fontSize: 21, lineHeight: 1.6, marginTop: 16 }}&gt;五个角色分工完成一次银行事务，从听懂到办完全程可追溯&lt;/Text&gt;&#10;&#10;  &lt;Box style={{ display: &quot;flex&quot;, flexDirection: &quot;row&quot;, gap: 14, marginTop: 30 }}&gt;&#10;    &lt;Box style={{ flex: 1, background: &quot;rgba(34,197,94,0.10)&quot;, border: &quot;1px solid rgba(34,197,94,0.45)&quot;, borderRadius: 10, padding: &quot;22px 18px&quot; }}&gt;&#10;      &lt;Text style={{ color: &quot;#22C55E&quot;, fontSize: 20, fontWeight: 700 }}&gt;意图官&lt;/Text&gt;&#10;      &lt;Text style={{ color: &quot;#9CA3AF&quot;, fontSize: 14, lineHeight: 1.55, marginTop: 6 }}&gt;听懂诉求，抽出工具与槽位&lt;/Text&gt;&#10;    &lt;/Box&gt;&#10;    &lt;Box style={{ flex: 1, background: &quot;rgba(245,158,11,0.10)&quot;, border: &quot;1px solid rgba(245,158,11,0.45)&quot;, borderRadius: 10, padding: &quot;26px 18px&quot; }}&gt;&#10;      &lt;Text style={{ color: &quot;#F59E0B&quot;, fontSize: 20, fontWeight: 700 }}&gt;风控官&lt;/Text&gt;&#10;      &lt;Text style={{ color: &quot;#9CA3AF&quot;, fontSize: 14, lineHeight: 1.55, marginTop: 6 }}&gt;四维叠加判风险等级&lt;/Text&gt;&#10;    &lt;/Box&gt;&#10;    &lt;Box style={{ flex: 1, background: &quot;rgba(245,158,11,0.10)&quot;, border: &quot;1px solid rgba(245,158,11,0.45)&quot;, borderRadius: 10, padding: &quot;26px 18px&quot; }}&gt;&#10;      &lt;Text style={{ color: &quot;#F59E0B&quot;, fontSize: 20, fontWeight: 700 }}&gt;合规官&lt;/Text&gt;&#10;      &lt;Text style={{ color: &quot;#9CA3AF&quot;, fontSize: 14, lineHeight: 1.55, marginTop: 6 }}&gt;查收款人来源与白名单&lt;/Text&gt;&#10;    &lt;/Box&gt;&#10;    &lt;Box style={{ flex: 1, background: &quot;rgba(107,114,128,0.12)&quot;, border: &quot;1px solid rgba(107,114,128,0.45)&quot;, borderRadius: 10, padding: &quot;26px 18px&quot; }}&gt;&#10;      &lt;Text style={{ color: &quot;#D1D5DB&quot;, fontSize: 20, fontWeight: 700 }}&gt;体验官&lt;/Text&gt;&#10;      &lt;Text style={{ color: &quot;#9CA3AF&quot;, fontSize: 14, lineHeight: 1.55, marginTop: 6 }}&gt;指出缺什么并给替代路径&lt;/Text&gt;&#10;    &lt;/Box&gt;&#10;    &lt;Box style={{ flex: 1, background: &quot;rgba(59,130,246,0.12)&quot;, border: &quot;1px solid rgba(59,130,246,0.45)&quot;, borderRadius: 10, padding: &quot;26px 18px&quot; }}&gt;&#10;      &lt;Text style={{ color: &quot;#93C5FD&quot;, fontSize: 20, fontWeight: 700 }}&gt;仲裁官&lt;/Text&gt;&#10;      &lt;Text style={{ color: &quot;#9CA3AF&quot;, fontSize: 14, lineHeight: 1.55, marginTop: 6 }}&gt;取最高风险并合并理由&lt;/Text&gt;&#10;    &lt;/Box&gt;&#10;  &lt;/Box&gt;&#10;&#10;  &lt;Box style={{ display: &quot;flex&quot;, flexDirection: &quot;row&quot;, gap: 14, marginTop: 16 }}&gt;&#10;    &lt;Box style={{ flex: 1, background: &quot;rgba(34,197,94,0.07)&quot;, border: &quot;1px solid rgba(34,197,94,0.3)&quot;, borderRadius: 10, padding: &quot;26px 18px&quot; }}&gt;&#10;      &lt;Text style={{ color: &quot;#22C55E&quot;, fontSize: 20, fontWeight: 700 }}&gt;执行官&lt;/Text&gt;&#10;      &lt;Text style={{ color: &quot;#9CA3AF&quot;, fontSize: 14, lineHeight: 1.55, marginTop: 6 }}&gt;按确认令牌执行写操作&lt;/Text&gt;&#10;    &lt;/Box&gt;&#10;    &lt;Box style={{ flex: 1, background: &quot;rgba(34,197,94,0.07)&quot;, border: &quot;1px solid rgba(34,197,94,0.3)&quot;, borderRadius: 10, padding: &quot;26px 18px&quot; }}&gt;&#10;      &lt;Text style={{ color: &quot;#22C55E&quot;, fontSize: 20, fontWeight: 700 }}&gt;审计官&lt;/Text&gt;&#10;      &lt;Text style={{ color: &quot;#9CA3AF&quot;, fontSize: 14, lineHeight: 1.55, marginTop: 6 }}&gt;写入哈希链，序号递增&lt;/Text&gt;&#10;    &lt;/Box&gt;&#10;    &lt;Box style={{ flex: 1.4, background: &quot;rgba(107,114,128,0.10)&quot;, border: &quot;1px solid rgba(107,114,128,0.3)&quot;, borderRadius: 10, padding: &quot;26px 18px&quot; }}&gt;&#10;      &lt;Text style={{ color: &quot;#D1D5DB&quot;, fontSize: 20, fontWeight: 700 }}&gt;六个赛题场景全部打通&lt;/Text&gt;&#10;      &lt;Text style={{ color: &quot;#9CA3AF&quot;, fontSize: 14, lineHeight: 1.55, marginTop: 6 }}&gt;转账、账单、理财、卡片、订阅、跨场景联动&lt;/Text&gt;&#10;    &lt;/Box&gt;&#10;  &lt;/Box&gt;&#10;&#10;  &lt;Box style={{ display: &quot;flex&quot;, flexDirection: &quot;row&quot;, gap: 14, marginTop: 18, borderTop: &quot;1px solid #243044&quot;, paddingTop: 22 }}&gt;&#10;    &lt;Box style={{ flex: 1 }}&gt;&#10;      &lt;Text style={{ color: &quot;#6B7280&quot;, fontSize: 12, letterSpacing: 2 }}&gt;团队&lt;/Text&gt;&#10;      &lt;Text style={{ color: &quot;#D1D5DB&quot;, fontSize: 16, marginTop: 5 }}&gt;CordiBank 蜂群项目组&lt;/Text&gt;&#10;    &lt;/Box&gt;&#10;    &lt;Box style={{ flex: 1 }}&gt;&#10;      &lt;Text style={{ color: &quot;#6B7280&quot;, fontSize: 12, letterSpacing: 2 }}&gt;规模&lt;/Text&gt;&#10;      &lt;Text style={{ color: &quot;#D1D5DB&quot;, fontSize: 16, marginTop: 5 }}&gt;91 项测试全通，21 个内置工具&lt;/Text&gt;&#10;    &lt;/Box&gt;&#10;    &lt;Box style={{ flex: 1 }}&gt;&#10;      &lt;Text style={{ color: &quot;#6B7280&quot;, fontSize: 12, letterSpacing: 2 }}&gt;交付&lt;/Text&gt;&#10;      &lt;Text style={{ color: &quot;#D1D5DB&quot;, fontSize: 16, marginTop: 5 }}&gt;代码、文档、部署说明、测试用例&lt;/Text&gt;&#10;    &lt;/Box&gt;&#10;    &lt;Box style={{ flex: 1 }}&gt;&#10;      &lt;Text style={{ color: &quot;#6B7280&quot;, fontSize: 12, letterSpacing: 2 }}&gt;时间&lt;/Text&gt;&#10;      &lt;Text style={{ color: &quot;#D1D5DB&quot;, fontSize: 16, marginTop: 5 }}&gt;2026 年 10 月&lt;/Text&gt;&#10;    &lt;/Box&gt;&#10;  &lt;/Box&gt;&#10;&#10;  &lt;Text style={{ color: &quot;#4B5563&quot;, fontSize: 14, marginTop: 16 }}&gt;本项目使用 CordiSwarm 智能体编排框架构建，运行于 Node 22 与 TypeScript 之上，前端为 Vue 3 与 Vite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400050"/>
            <a:ext cx="10820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375">
                <a:solidFill>
                  <a:srgbClr val="F59E0B"/>
                </a:solidFill>
                <a:latin typeface="Microsoft YaHei"/>
                <a:ea typeface="Microsoft YaHei"/>
              </a:rPr>
              <a:t xml:space="preserve">2026 FINTECHATHON · </a:t>
            </a:r>
            <a:r>
              <a:rPr lang="zh-CN" sz="1125" b="1" spc="375">
                <a:solidFill>
                  <a:srgbClr val="F59E0B"/>
                </a:solidFill>
                <a:latin typeface="Microsoft YaHei"/>
                <a:ea typeface="Microsoft YaHei"/>
              </a:rPr>
              <a:t>人工智能赛道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85800" y="762000"/>
            <a:ext cx="10820400" cy="9144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4950" b="1">
                <a:solidFill>
                  <a:srgbClr val="F7F4EC"/>
                </a:solidFill>
                <a:latin typeface="Microsoft YaHei"/>
                <a:ea typeface="Microsoft YaHei"/>
              </a:rPr>
              <a:t>面向金融的蜂群多智能体系统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685800" y="1828800"/>
            <a:ext cx="914400" cy="5715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85800" y="2038350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75">
                <a:solidFill>
                  <a:srgbClr val="9CA3AF"/>
                </a:solidFill>
                <a:latin typeface="Microsoft YaHei"/>
                <a:ea typeface="Microsoft YaHei"/>
              </a:rPr>
              <a:t>五个角色分工完成一次银行事务，从听懂到办完全程可追溯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685800" y="2714625"/>
            <a:ext cx="2057400" cy="1038225"/>
          </a:xfrm>
          <a:prstGeom prst="roundRect">
            <a:avLst>
              <a:gd name="adj" fmla="val 9174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57250" y="29241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C55E"/>
                </a:solidFill>
                <a:latin typeface="Microsoft YaHei"/>
                <a:ea typeface="Microsoft YaHei"/>
              </a:rPr>
              <a:t>意图官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57250" y="3209925"/>
            <a:ext cx="17145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听懂诉求，抽出工具与槽位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2876550" y="2714625"/>
            <a:ext cx="2057400" cy="1038225"/>
          </a:xfrm>
          <a:prstGeom prst="roundRect">
            <a:avLst>
              <a:gd name="adj" fmla="val 9174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3048000" y="29622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59E0B"/>
                </a:solidFill>
                <a:latin typeface="Microsoft YaHei"/>
                <a:ea typeface="Microsoft YaHei"/>
              </a:rPr>
              <a:t>风控官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3048000" y="3248025"/>
            <a:ext cx="17145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四维叠加判风险等级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5067300" y="2714625"/>
            <a:ext cx="2057400" cy="1038225"/>
          </a:xfrm>
          <a:prstGeom prst="roundRect">
            <a:avLst>
              <a:gd name="adj" fmla="val 9174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5238750" y="29622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59E0B"/>
                </a:solidFill>
                <a:latin typeface="Microsoft YaHei"/>
                <a:ea typeface="Microsoft YaHei"/>
              </a:rPr>
              <a:t>合规官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5238750" y="3248025"/>
            <a:ext cx="17145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查收款人来源与白名单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7258050" y="2714625"/>
            <a:ext cx="2057400" cy="1038225"/>
          </a:xfrm>
          <a:prstGeom prst="roundRect">
            <a:avLst>
              <a:gd name="adj" fmla="val 9174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7429500" y="29622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1D5DB"/>
                </a:solidFill>
                <a:latin typeface="Microsoft YaHei"/>
                <a:ea typeface="Microsoft YaHei"/>
              </a:rPr>
              <a:t>体验官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429500" y="3248025"/>
            <a:ext cx="17145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指出缺什么并给替代路径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9448800" y="2714625"/>
            <a:ext cx="2057400" cy="1038225"/>
          </a:xfrm>
          <a:prstGeom prst="roundRect">
            <a:avLst>
              <a:gd name="adj" fmla="val 9174"/>
            </a:avLst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9620250" y="29622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93C5FD"/>
                </a:solidFill>
                <a:latin typeface="Microsoft YaHei"/>
                <a:ea typeface="Microsoft YaHei"/>
              </a:rPr>
              <a:t>仲裁官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9620250" y="3248025"/>
            <a:ext cx="17145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取最高风险并合并理由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685800" y="3905250"/>
            <a:ext cx="3105150" cy="1038225"/>
          </a:xfrm>
          <a:prstGeom prst="roundRect">
            <a:avLst>
              <a:gd name="adj" fmla="val 9174"/>
            </a:avLst>
          </a:prstGeom>
          <a:solidFill>
            <a:srgbClr val="22C55E">
              <a:alpha val="7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57250" y="4152900"/>
            <a:ext cx="2762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C55E"/>
                </a:solidFill>
                <a:latin typeface="Microsoft YaHei"/>
                <a:ea typeface="Microsoft YaHei"/>
              </a:rPr>
              <a:t>执行官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857250" y="4438650"/>
            <a:ext cx="27622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按确认令牌执行写操作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3924300" y="3905250"/>
            <a:ext cx="3105150" cy="1038225"/>
          </a:xfrm>
          <a:prstGeom prst="roundRect">
            <a:avLst>
              <a:gd name="adj" fmla="val 9174"/>
            </a:avLst>
          </a:prstGeom>
          <a:solidFill>
            <a:srgbClr val="22C55E">
              <a:alpha val="7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095750" y="4152900"/>
            <a:ext cx="2762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C55E"/>
                </a:solidFill>
                <a:latin typeface="Microsoft YaHei"/>
                <a:ea typeface="Microsoft YaHei"/>
              </a:rPr>
              <a:t>审计官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095750" y="4438650"/>
            <a:ext cx="27622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写入哈希链，序号递增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7162800" y="3905250"/>
            <a:ext cx="4343400" cy="1038225"/>
          </a:xfrm>
          <a:prstGeom prst="roundRect">
            <a:avLst>
              <a:gd name="adj" fmla="val 9174"/>
            </a:avLst>
          </a:prstGeom>
          <a:solidFill>
            <a:srgbClr val="6B7280">
              <a:alpha val="10000"/>
            </a:srgbClr>
          </a:solidFill>
          <a:ln w="12700">
            <a:solidFill>
              <a:srgbClr val="6B7280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7334250" y="4152900"/>
            <a:ext cx="400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1D5DB"/>
                </a:solidFill>
                <a:latin typeface="Microsoft YaHei"/>
                <a:ea typeface="Microsoft YaHei"/>
              </a:rPr>
              <a:t>六个赛题场景全部打通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7334250" y="4438650"/>
            <a:ext cx="40005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转账、账单、理财、卡片、订阅、跨场景联动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685800" y="5114925"/>
            <a:ext cx="10820400" cy="609600"/>
          </a:xfrm>
          <a:custGeom>
            <a:pathLst>
              <a:path w="1136" h="64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3044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85800" y="5334000"/>
            <a:ext cx="2609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B7280"/>
                </a:solidFill>
                <a:latin typeface="Microsoft YaHei"/>
                <a:ea typeface="Microsoft YaHei"/>
              </a:rPr>
              <a:t>团队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85800" y="5524500"/>
            <a:ext cx="2609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D1D5DB"/>
                </a:solidFill>
                <a:latin typeface="Microsoft YaHei"/>
                <a:ea typeface="Microsoft YaHei"/>
              </a:rPr>
              <a:t xml:space="preserve">CordiBank </a:t>
            </a: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蜂群项目组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429000" y="5334000"/>
            <a:ext cx="2600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B7280"/>
                </a:solidFill>
                <a:latin typeface="Microsoft YaHei"/>
                <a:ea typeface="Microsoft YaHei"/>
              </a:rPr>
              <a:t>规模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3429000" y="5524500"/>
            <a:ext cx="2600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D1D5DB"/>
                </a:solidFill>
                <a:latin typeface="Microsoft YaHei"/>
                <a:ea typeface="Microsoft YaHei"/>
              </a:rPr>
              <a:t xml:space="preserve">91 </a:t>
            </a: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项测试全通，</a:t>
            </a:r>
            <a:r>
              <a:rPr lang="en-US" sz="1200">
                <a:solidFill>
                  <a:srgbClr val="D1D5DB"/>
                </a:solidFill>
                <a:latin typeface="Microsoft YaHei"/>
                <a:ea typeface="Microsoft YaHei"/>
              </a:rPr>
              <a:t xml:space="preserve">21 </a:t>
            </a: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个内置工具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162675" y="5334000"/>
            <a:ext cx="2609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B7280"/>
                </a:solidFill>
                <a:latin typeface="Microsoft YaHei"/>
                <a:ea typeface="Microsoft YaHei"/>
              </a:rPr>
              <a:t>交付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162675" y="5524500"/>
            <a:ext cx="2609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代码、文档、部署说明、测试用例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8905875" y="5334000"/>
            <a:ext cx="2600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B7280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8905875" y="5524500"/>
            <a:ext cx="2600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D1D5DB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年</a:t>
            </a:r>
            <a:r>
              <a:rPr lang="en-US" sz="1200">
                <a:solidFill>
                  <a:srgbClr val="D1D5DB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85800" y="58674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B5563"/>
                </a:solidFill>
                <a:latin typeface="Microsoft YaHei"/>
                <a:ea typeface="Microsoft YaHei"/>
              </a:rPr>
              <a:t>本项目使用</a:t>
            </a:r>
            <a:r>
              <a:rPr lang="en-US" sz="1050">
                <a:solidFill>
                  <a:srgbClr val="4B5563"/>
                </a:solidFill>
                <a:latin typeface="Microsoft YaHei"/>
                <a:ea typeface="Microsoft YaHei"/>
              </a:rPr>
              <a:t xml:space="preserve"> CordiSwarm </a:t>
            </a:r>
            <a:r>
              <a:rPr lang="zh-CN" sz="1050">
                <a:solidFill>
                  <a:srgbClr val="4B5563"/>
                </a:solidFill>
                <a:latin typeface="Microsoft YaHei"/>
                <a:ea typeface="Microsoft YaHei"/>
              </a:rPr>
              <a:t>智能体编排框架构建，运行于</a:t>
            </a:r>
            <a:r>
              <a:rPr lang="en-US" sz="1050">
                <a:solidFill>
                  <a:srgbClr val="4B5563"/>
                </a:solidFill>
                <a:latin typeface="Microsoft YaHei"/>
                <a:ea typeface="Microsoft YaHei"/>
              </a:rPr>
              <a:t xml:space="preserve"> Node 22 </a:t>
            </a:r>
            <a:r>
              <a:rPr lang="zh-CN" sz="1050">
                <a:solidFill>
                  <a:srgbClr val="4B5563"/>
                </a:solidFill>
                <a:latin typeface="Microsoft YaHei"/>
                <a:ea typeface="Microsoft YaHei"/>
              </a:rPr>
              <a:t>与</a:t>
            </a:r>
            <a:r>
              <a:rPr lang="en-US" sz="1050">
                <a:solidFill>
                  <a:srgbClr val="4B5563"/>
                </a:solidFill>
                <a:latin typeface="Microsoft YaHei"/>
                <a:ea typeface="Microsoft YaHei"/>
              </a:rPr>
              <a:t xml:space="preserve"> TypeScript </a:t>
            </a:r>
            <a:r>
              <a:rPr lang="zh-CN" sz="1050">
                <a:solidFill>
                  <a:srgbClr val="4B5563"/>
                </a:solidFill>
                <a:latin typeface="Microsoft YaHei"/>
                <a:ea typeface="Microsoft YaHei"/>
              </a:rPr>
              <a:t>之上，前端为</a:t>
            </a:r>
            <a:r>
              <a:rPr lang="en-US" sz="1050">
                <a:solidFill>
                  <a:srgbClr val="4B5563"/>
                </a:solidFill>
                <a:latin typeface="Microsoft YaHei"/>
                <a:ea typeface="Microsoft YaHei"/>
              </a:rPr>
              <a:t xml:space="preserve"> Vue 3 </a:t>
            </a:r>
            <a:r>
              <a:rPr lang="zh-CN" sz="1050">
                <a:solidFill>
                  <a:srgbClr val="4B5563"/>
                </a:solidFill>
                <a:latin typeface="Microsoft YaHei"/>
                <a:ea typeface="Microsoft YaHei"/>
              </a:rPr>
              <a:t>与</a:t>
            </a:r>
            <a:r>
              <a:rPr lang="en-US" sz="1050">
                <a:solidFill>
                  <a:srgbClr val="4B5563"/>
                </a:solidFill>
                <a:latin typeface="Microsoft YaHei"/>
                <a:ea typeface="Microsoft YaHei"/>
              </a:rPr>
              <a:t xml:space="preserve"> Vite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50" name="" descr="&lt;Slide style={{ background: &quot;#0B1220&quot;, padding: &quot;42px 72px 40px&quot;, display: &quot;flex&quot;, flexDirection: &quot;column&quot; }}&gt;&#10;  &lt;Text style={{ color: &quot;#6B7280&quot;, fontSize: 14, letterSpacing: 3 }}&gt;实测数据 · 全部可复现&lt;/Text&gt;&#10;  &lt;Text style={{ color: &quot;#F7F4EC&quot;, fontSize: 34, fontWeight: 700, marginTop: 12 }}&gt;三个数字说明这套系统做到了什么&lt;/Text&gt;&#10;  &lt;Box style={{ display: &quot;flex&quot;, flexDirection: &quot;row&quot;, gap: 32, marginTop: 40 }}&gt;&#10;    &lt;Box style={{ flex: 1, borderTop: &quot;3px solid #22C55E&quot;, paddingTop: 22 }}&gt;&#10;      &lt;Text style={{ color: &quot;#22C55E&quot;, fontSize: 96, fontWeight: 700, fontFamily: &quot;JetBrains Mono, monospace&quot;, lineHeight: 1 }}&gt;91&lt;/Text&gt;&#10;      &lt;Text style={{ color: &quot;#F7F4EC&quot;, fontSize: 22, fontWeight: 600, marginTop: 14 }}&gt;项自动化测试&lt;/Text&gt;&#10;      &lt;Text style={{ color: &quot;#9CA3AF&quot;, fontSize: 16, lineHeight: 1.7, marginTop: 10 }}&gt;单元、集成、蜂群协同、真实模型四层。红队四十条用例覆盖直接注入、间接注入、越权与正常请求。&lt;/Text&gt;&#10;    &lt;/Box&gt;&#10;    &lt;Box style={{ flex: 1, borderTop: &quot;3px solid #F59E0B&quot;, paddingTop: 22 }}&gt;&#10;      &lt;Text style={{ color: &quot;#F59E0B&quot;, fontSize: 96, fontWeight: 700, fontFamily: &quot;JetBrains Mono, monospace&quot;, lineHeight: 1 }}&gt;21&lt;/Text&gt;&#10;      &lt;Text style={{ color: &quot;#F7F4EC&quot;, fontSize: 22, fontWeight: 600, marginTop: 14 }}&gt;个内置工具&lt;/Text&gt;&#10;      &lt;Text style={{ color: &quot;#9CA3AF&quot;, fontSize: 16, lineHeight: 1.7, marginTop: 10 }}&gt;六个赛题场景全部覆盖，另有四个外部服务提供十三个工具，经同一张注册表并入模型工具集。&lt;/Text&gt;&#10;    &lt;/Box&gt;&#10;    &lt;Box style={{ flex: 1, borderTop: &quot;3px solid #EF4444&quot;, paddingTop: 22 }}&gt;&#10;      &lt;Text style={{ color: &quot;#EF4444&quot;, fontSize: 96, fontWeight: 700, fontFamily: &quot;JetBrains Mono, monospace&quot;, lineHeight: 1 }}&gt;100%&lt;/Text&gt;&#10;      &lt;Text style={{ color: &quot;#F7F4EC&quot;, fontSize: 22, fontWeight: 600, marginTop: 14 }}&gt;注入拦截率&lt;/Text&gt;&#10;      &lt;Text style={{ color: &quot;#9CA3AF&quot;, fontSize: 16, lineHeight: 1.7, marginTop: 10 }}&gt;四类注入特征全部命中，正常请求误拦为零。不可逆操作百分之百判红，不给确认通道。&lt;/Text&gt;&#10;    &lt;/Box&gt;&#10;  &lt;/Box&gt;&#10;&#10;  &lt;Box style={{ display: &quot;flex&quot;, flexDirection: &quot;row&quot;, gap: 24, marginTop: 34, borderTop: &quot;1px solid #243044&quot;, paddingTop: 22 }}&gt;&#10;    &lt;Box style={{ flex: 1, background: &quot;rgba(34,197,94,0.07)&quot;, border: &quot;1px solid rgba(34,197,94,0.3)&quot;, borderRadius: 10, padding: 18 }}&gt;&#10;      &lt;Text style={{ color: &quot;#22C55E&quot;, fontSize: 17, fontWeight: 700 }}&gt;怎么跑&lt;/Text&gt;&#10;      &lt;Text style={{ color: &quot;#9CA3AF&quot;, fontSize: 15, lineHeight: 1.65, marginTop: 6 }}&gt;runtime 目录下执行测试命令，输出逐条用例名与通过状态。&lt;/Text&gt;&#10;    &lt;/Box&gt;&#10;    &lt;Box style={{ flex: 1, background: &quot;rgba(245,158,11,0.07)&quot;, border: &quot;1px solid rgba(245,158,11,0.3)&quot;, borderRadius: 10, padding: 18 }}&gt;&#10;      &lt;Text style={{ color: &quot;#F59E0B&quot;, fontSize: 17, fontWeight: 700 }}&gt;在哪里看&lt;/Text&gt;&#10;      &lt;Text style={{ color: &quot;#9CA3AF&quot;, fontSize: 15, lineHeight: 1.65, marginTop: 6 }}&gt;控制台「跑红队集」与「工具清单」两个面板直接给出统计数字。&lt;/Text&gt;&#10;    &lt;/Box&gt;&#10;    &lt;Box style={{ flex: 1, background: &quot;rgba(59,130,246,0.07)&quot;, border: &quot;1px solid rgba(59,130,246,0.3)&quot;, borderRadius: 10, padding: 18 }}&gt;&#10;      &lt;Text style={{ color: &quot;#93C5FD&quot;, fontSize: 17, fontWeight: 700 }}&gt;证据在哪&lt;/Text&gt;&#10;      &lt;Text style={{ color: &quot;#9CA3AF&quot;, fontSize: 15, lineHeight: 1.65, marginTop: 6 }}&gt;《部署说明》第八节列出全部验证命令与完整输出，评委可原样复跑。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85800" y="40005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实测数据</a:t>
            </a:r>
            <a:r>
              <a:rPr lang="en-US" sz="1050" spc="225">
                <a:solidFill>
                  <a:srgbClr val="6B72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全部可复现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三个数字说明这套系统做到了什么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685800" y="1447800"/>
            <a:ext cx="3400425" cy="2790825"/>
          </a:xfrm>
          <a:custGeom>
            <a:pathLst>
              <a:path w="357" h="293">
                <a:moveTo>
                  <a:pt x="0" y="0"/>
                </a:moveTo>
                <a:lnTo>
                  <a:pt x="357" y="0"/>
                </a:lnTo>
                <a:lnTo>
                  <a:pt x="357" y="3"/>
                </a:lnTo>
                <a:lnTo>
                  <a:pt x="0" y="3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400425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22C55E"/>
                </a:solidFill>
                <a:latin typeface="JetBrains Mono"/>
                <a:ea typeface="JetBrains Mono"/>
              </a:rPr>
              <a:t>91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85800" y="2924175"/>
            <a:ext cx="3400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7F4EC"/>
                </a:solidFill>
                <a:latin typeface="Microsoft YaHei"/>
                <a:ea typeface="Microsoft YaHei"/>
              </a:rPr>
              <a:t>项自动化测试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685800" y="3276600"/>
            <a:ext cx="34004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单元、集成、蜂群协同、真实模型四层。红队四十条用例覆盖直接注入、间接注入、越权与正常请求。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4391025" y="1447800"/>
            <a:ext cx="3409950" cy="2790825"/>
          </a:xfrm>
          <a:custGeom>
            <a:pathLst>
              <a:path w="358" h="293">
                <a:moveTo>
                  <a:pt x="0" y="0"/>
                </a:moveTo>
                <a:lnTo>
                  <a:pt x="358" y="0"/>
                </a:lnTo>
                <a:lnTo>
                  <a:pt x="358" y="3"/>
                </a:lnTo>
                <a:lnTo>
                  <a:pt x="0" y="3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4391025" y="1685925"/>
            <a:ext cx="340995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59E0B"/>
                </a:solidFill>
                <a:latin typeface="JetBrains Mono"/>
                <a:ea typeface="JetBrains Mono"/>
              </a:rPr>
              <a:t>21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391025" y="2924175"/>
            <a:ext cx="3409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7F4EC"/>
                </a:solidFill>
                <a:latin typeface="Microsoft YaHei"/>
                <a:ea typeface="Microsoft YaHei"/>
              </a:rPr>
              <a:t>个内置工具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391025" y="3276600"/>
            <a:ext cx="34099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六个赛题场景全部覆盖，另有四个外部服务提供十三个工具，经同一张注册表并入模型工具集。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8105775" y="1447800"/>
            <a:ext cx="3400425" cy="2790825"/>
          </a:xfrm>
          <a:custGeom>
            <a:pathLst>
              <a:path w="357" h="293">
                <a:moveTo>
                  <a:pt x="0" y="0"/>
                </a:moveTo>
                <a:lnTo>
                  <a:pt x="357" y="0"/>
                </a:lnTo>
                <a:lnTo>
                  <a:pt x="357" y="3"/>
                </a:lnTo>
                <a:lnTo>
                  <a:pt x="0" y="3"/>
                </a:ln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p/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8105775" y="1685925"/>
            <a:ext cx="3400425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EF4444"/>
                </a:solidFill>
                <a:latin typeface="JetBrains Mono"/>
                <a:ea typeface="JetBrains Mono"/>
              </a:rPr>
              <a:t>100%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8105775" y="2924175"/>
            <a:ext cx="3400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7F4EC"/>
                </a:solidFill>
                <a:latin typeface="Microsoft YaHei"/>
                <a:ea typeface="Microsoft YaHei"/>
              </a:rPr>
              <a:t>注入拦截率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8105775" y="3276600"/>
            <a:ext cx="34004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四类注入特征全部命中，正常请求误拦为零。不可逆操作百分之百判红，不给确认通道。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685800" y="4533900"/>
            <a:ext cx="10820400" cy="1400175"/>
          </a:xfrm>
          <a:custGeom>
            <a:pathLst>
              <a:path w="1136" h="1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3044"/>
          </a:solidFill>
          <a:ln/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685800" y="4752975"/>
            <a:ext cx="3457575" cy="1171575"/>
          </a:xfrm>
          <a:prstGeom prst="roundRect">
            <a:avLst>
              <a:gd name="adj" fmla="val 8130"/>
            </a:avLst>
          </a:prstGeom>
          <a:solidFill>
            <a:srgbClr val="22C55E">
              <a:alpha val="7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857250" y="4924425"/>
            <a:ext cx="3114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22C55E"/>
                </a:solidFill>
                <a:latin typeface="Microsoft YaHei"/>
                <a:ea typeface="Microsoft YaHei"/>
              </a:rPr>
              <a:t>怎么跑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57250" y="5181600"/>
            <a:ext cx="31146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runtime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目录下执行测试命令，输出逐条用例名与通过状态。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4371975" y="4752975"/>
            <a:ext cx="3448050" cy="1171575"/>
          </a:xfrm>
          <a:prstGeom prst="roundRect">
            <a:avLst>
              <a:gd name="adj" fmla="val 8130"/>
            </a:avLst>
          </a:prstGeom>
          <a:solidFill>
            <a:srgbClr val="F59E0B">
              <a:alpha val="7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4543425" y="4924425"/>
            <a:ext cx="3105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59E0B"/>
                </a:solidFill>
                <a:latin typeface="Microsoft YaHei"/>
                <a:ea typeface="Microsoft YaHei"/>
              </a:rPr>
              <a:t>在哪里看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4543425" y="5181600"/>
            <a:ext cx="31051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控制台「跑红队集」与「工具清单」两个面板直接给出统计数字。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8048625" y="4752975"/>
            <a:ext cx="3457575" cy="1171575"/>
          </a:xfrm>
          <a:prstGeom prst="roundRect">
            <a:avLst>
              <a:gd name="adj" fmla="val 8130"/>
            </a:avLst>
          </a:prstGeom>
          <a:solidFill>
            <a:srgbClr val="3B82F6">
              <a:alpha val="7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220075" y="4924425"/>
            <a:ext cx="3114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93C5FD"/>
                </a:solidFill>
                <a:latin typeface="Microsoft YaHei"/>
                <a:ea typeface="Microsoft YaHei"/>
              </a:rPr>
              <a:t>证据在哪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220075" y="5181600"/>
            <a:ext cx="31146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《部署说明》第八节列出全部验证命令与完整输出，评委可原样复跑。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76" name="" descr="&lt;Slide style={{ background: &quot;#0B1220&quot;, padding: &quot;42px 72px 40px&quot;, display: &quot;flex&quot;, flexDirection: &quot;column&quot; }}&gt;&#10;  &lt;Text style={{ color: &quot;#6B7280&quot;, fontSize: 14, letterSpacing: 3 }}&gt;问题&lt;/Text&gt;&#10;  &lt;Text style={{ color: &quot;#F7F4EC&quot;, fontSize: 34, fontWeight: 700, marginTop: 12 }}&gt;一个大脑包办所有事，代价落在三处&lt;/Text&gt;&#10;  &lt;Box style={{ display: &quot;flex&quot;, flexDirection: &quot;row&quot;, gap: 28, marginTop: 38 }}&gt;&#10;    &lt;Box style={{ flex: 1, background: &quot;rgba(239,68,68,0.08)&quot;, border: &quot;1px solid rgba(239,68,68,0.35)&quot;, borderRadius: 12, padding: 26, height: 300 }}&gt;&#10;      &lt;Text style={{ color: &quot;#EF4444&quot;, fontSize: 40, fontWeight: 700, fontFamily: &quot;JetBrains Mono, monospace&quot; }}&gt;01&lt;/Text&gt;&#10;      &lt;Text style={{ color: &quot;#F7F4EC&quot;, fontSize: 24, fontWeight: 600, marginTop: 14 }}&gt;判不准&lt;/Text&gt;&#10;      &lt;Text style={{ color: &quot;#9CA3AF&quot;, fontSize: 17, lineHeight: 1.75, marginTop: 10 }}&gt;同一个模型既要想「用户要什么」，又要想「这事能不能办」。两个目标写在一段提示词里，互相干扰，结果是该拦的没拦，该放的没放。&lt;/Text&gt;&#10;    &lt;/Box&gt;&#10;    &lt;Box style={{ flex: 1, background: &quot;rgba(245,158,11,0.08)&quot;, border: &quot;1px solid rgba(245,158,11,0.35)&quot;, borderRadius: 12, padding: 26, height: 300 }}&gt;&#10;      &lt;Text style={{ color: &quot;#F59E0B&quot;, fontSize: 40, fontWeight: 700, fontFamily: &quot;JetBrains Mono, monospace&quot; }}&gt;02&lt;/Text&gt;&#10;      &lt;Text style={{ color: &quot;#F7F4EC&quot;, fontSize: 24, fontWeight: 600, marginTop: 14 }}&gt;说不清&lt;/Text&gt;&#10;      &lt;Text style={{ color: &quot;#9CA3AF&quot;, fontSize: 17, lineHeight: 1.75, marginTop: 10 }}&gt;出错时只能看到一个结论，不知道是哪一步出的问题。评委问「为什么判黄」，答不上具体规则与阈值，等于没有判定。&lt;/Text&gt;&#10;    &lt;/Box&gt;&#10;    &lt;Box style={{ flex: 1, background: &quot;rgba(107,114,128,0.10)&quot;, border: &quot;1px solid rgba(107,114,128,0.35)&quot;, borderRadius: 12, padding: 26, height: 300 }}&gt;&#10;      &lt;Text style={{ color: &quot;#9CA3AF&quot;, fontSize: 40, fontWeight: 700, fontFamily: &quot;JetBrains Mono, monospace&quot; }}&gt;03&lt;/Text&gt;&#10;      &lt;Text style={{ color: &quot;#F7F4EC&quot;, fontSize: 24, fontWeight: 600, marginTop: 14 }}&gt;改不动&lt;/Text&gt;&#10;      &lt;Text style={{ color: &quot;#9CA3AF&quot;, fontSize: 17, lineHeight: 1.75, marginTop: 10 }}&gt;要加一条风控规则，得动主流程；要加一句合规校验，还得动主流程。改一处牵全身，团队里没人敢动那段代码。&lt;/Text&gt;&#10;    &lt;/Box&gt;&#10;  &lt;/Box&gt;&#10;&#10;  &lt;Box style={{ display: &quot;flex&quot;, flexDirection: &quot;row&quot;, gap: 24, marginTop: 30, borderTop: &quot;1px solid #243044&quot;, paddingTop: 22 }}&gt;&#10;    &lt;Box style={{ flex: 1.4, display: &quot;flex&quot;, flexDirection: &quot;column&quot; }}&gt;&#10;      &lt;Text style={{ color: &quot;#22C55E&quot;, fontSize: 20, fontWeight: 600 }}&gt;解法不是换更强的模型，是把一件事拆给多个专职角色&lt;/Text&gt;&#10;      &lt;Text style={{ color: &quot;#9CA3AF&quot;, fontSize: 16, lineHeight: 1.7, marginTop: 8 }}&gt;每个角色只回答自己那一个问题，模型只做理解与选择，判定逻辑留在代码里。&lt;/Text&gt;&#10;      &lt;Text style={{ color: &quot;#6B7280&quot;, fontSize: 15, lineHeight: 1.7, marginTop: 12 }}&gt;三个代价对应三处改动：多视角交叉验证替代单点判断，规则命中留痕替代只给结论，角色隔离替代改主流程。&lt;/Text&gt;&#10;    &lt;/Box&gt;&#10;    &lt;Box style={{ flex: 1, background: &quot;rgba(34,197,94,0.07)&quot;, border: &quot;1px solid rgba(34,197,94,0.3)&quot;, borderRadius: 10, padding: 18, display: &quot;flex&quot;, flexDirection: &quot;column&quot; }}&gt;&#10;      &lt;Text style={{ color: &quot;#22C55E&quot;, fontSize: 17, fontWeight: 700 }}&gt;三个代价怎么消&lt;/Text&gt;&#10;      &lt;Text style={{ color: &quot;#9CA3AF&quot;, fontSize: 15, lineHeight: 1.65, marginTop: 6 }}&gt;判不准靠并行多视角交叉验证，说不清靠命中规则留痕，改不动靠角色隔离各自演进。&lt;/Text&gt;&#10;      &lt;Text style={{ color: &quot;#6B7280&quot;, fontSize: 14, lineHeight: 1.65, marginTop: 8 }}&gt;三组代价在同一套改动里一起消掉，不需要分批上线。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85800" y="40005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一个大脑包办所有事，代价落在三处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685800" y="1428750"/>
            <a:ext cx="3429000" cy="2857500"/>
          </a:xfrm>
          <a:prstGeom prst="roundRect">
            <a:avLst>
              <a:gd name="adj" fmla="val 4000"/>
            </a:avLst>
          </a:prstGeom>
          <a:solidFill>
            <a:srgbClr val="EF4444">
              <a:alpha val="8000"/>
            </a:srgbClr>
          </a:solidFill>
          <a:ln w="12700">
            <a:solidFill>
              <a:srgbClr val="EF444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933450" y="1676400"/>
            <a:ext cx="29337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EF4444"/>
                </a:solidFill>
                <a:latin typeface="JetBrains Mono"/>
                <a:ea typeface="JetBrains Mono"/>
              </a:rPr>
              <a:t>01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933450" y="2266950"/>
            <a:ext cx="29337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7F4EC"/>
                </a:solidFill>
                <a:latin typeface="Microsoft YaHei"/>
                <a:ea typeface="Microsoft YaHei"/>
              </a:rPr>
              <a:t>判不准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33450" y="2638425"/>
            <a:ext cx="29337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9CA3AF"/>
                </a:solidFill>
                <a:latin typeface="Microsoft YaHei"/>
                <a:ea typeface="Microsoft YaHei"/>
              </a:rPr>
              <a:t>同一个模型既要想「用户要什么」，又要想「这事能不能办」。两个目标写在一段提示词里，互相干扰，结果是该拦的没拦，该放的没放。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4381500" y="1428750"/>
            <a:ext cx="3429000" cy="2857500"/>
          </a:xfrm>
          <a:prstGeom prst="roundRect">
            <a:avLst>
              <a:gd name="adj" fmla="val 4000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4629150" y="1676400"/>
            <a:ext cx="29337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59E0B"/>
                </a:solidFill>
                <a:latin typeface="JetBrains Mono"/>
                <a:ea typeface="JetBrains Mono"/>
              </a:rPr>
              <a:t>02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4629150" y="2266950"/>
            <a:ext cx="29337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7F4EC"/>
                </a:solidFill>
                <a:latin typeface="Microsoft YaHei"/>
                <a:ea typeface="Microsoft YaHei"/>
              </a:rPr>
              <a:t>说不清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4629150" y="2638425"/>
            <a:ext cx="2933700" cy="1028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9CA3AF"/>
                </a:solidFill>
                <a:latin typeface="Microsoft YaHei"/>
                <a:ea typeface="Microsoft YaHei"/>
              </a:rPr>
              <a:t>出错时只能看到一个结论，不知道是哪一步出的问题。评委问「为什么判黄」，答不上具体规则与阈值，等于没有判定。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8077200" y="1428750"/>
            <a:ext cx="3429000" cy="2857500"/>
          </a:xfrm>
          <a:prstGeom prst="roundRect">
            <a:avLst>
              <a:gd name="adj" fmla="val 4000"/>
            </a:avLst>
          </a:prstGeom>
          <a:solidFill>
            <a:srgbClr val="6B7280">
              <a:alpha val="10000"/>
            </a:srgbClr>
          </a:solidFill>
          <a:ln w="12700">
            <a:solidFill>
              <a:srgbClr val="6B728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8324850" y="1676400"/>
            <a:ext cx="29337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9CA3AF"/>
                </a:solidFill>
                <a:latin typeface="JetBrains Mono"/>
                <a:ea typeface="JetBrains Mono"/>
              </a:rPr>
              <a:t>03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8324850" y="2266950"/>
            <a:ext cx="29337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7F4EC"/>
                </a:solidFill>
                <a:latin typeface="Microsoft YaHei"/>
                <a:ea typeface="Microsoft YaHei"/>
              </a:rPr>
              <a:t>改不动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8324850" y="2638425"/>
            <a:ext cx="2933700" cy="1028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9CA3AF"/>
                </a:solidFill>
                <a:latin typeface="Microsoft YaHei"/>
                <a:ea typeface="Microsoft YaHei"/>
              </a:rPr>
              <a:t>要加一条风控规则，得动主流程；要加一句合规校验，还得动主流程。改一处牵全身，团队里没人敢动那段代码。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685800" y="4572000"/>
            <a:ext cx="10820400" cy="1743075"/>
          </a:xfrm>
          <a:custGeom>
            <a:pathLst>
              <a:path w="1136" h="183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3044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685800" y="4791075"/>
            <a:ext cx="6181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C55E"/>
                </a:solidFill>
                <a:latin typeface="Microsoft YaHei"/>
                <a:ea typeface="Microsoft YaHei"/>
              </a:rPr>
              <a:t>解法不是换更强的模型，是把一件事拆给多个专职角色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685800" y="5095875"/>
            <a:ext cx="6181725" cy="314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每个角色只回答自己那一个问题，模型只做理解与选择，判定逻辑留在代码里。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85800" y="5524500"/>
            <a:ext cx="61817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三个代价对应三处改动：多视角交叉验证替代单点判断，规则命中留痕替代只给结论，角色隔离替代改主流程。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7096125" y="4791075"/>
            <a:ext cx="4410075" cy="1514475"/>
          </a:xfrm>
          <a:prstGeom prst="roundRect">
            <a:avLst>
              <a:gd name="adj" fmla="val 6289"/>
            </a:avLst>
          </a:prstGeom>
          <a:solidFill>
            <a:srgbClr val="22C55E">
              <a:alpha val="7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7267575" y="4962525"/>
            <a:ext cx="4067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22C55E"/>
                </a:solidFill>
                <a:latin typeface="Microsoft YaHei"/>
                <a:ea typeface="Microsoft YaHei"/>
              </a:rPr>
              <a:t>三个代价怎么消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7267575" y="5219700"/>
            <a:ext cx="40671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判不准靠并行多视角交叉验证，说不清靠命中规则留痕，改不动靠角色隔离各自演进。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7267575" y="5867400"/>
            <a:ext cx="4067175" cy="266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6B7280"/>
                </a:solidFill>
                <a:latin typeface="Microsoft YaHei"/>
                <a:ea typeface="Microsoft YaHei"/>
              </a:rPr>
              <a:t>三组代价在同一套改动里一起消掉，不需要分批上线。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00" name="" descr="&lt;Slide style={{ background: &quot;#0B1220&quot;, padding: &quot;44px 72px&quot;, display: &quot;flex&quot;, flexDirection: &quot;column&quot; }}&gt;&#10;  &lt;Text style={{ color: &quot;#6B7280&quot;, fontSize: 14, letterSpacing: 3 }}&gt;方案&lt;/Text&gt;&#10;  &lt;Text style={{ color: &quot;#F7F4EC&quot;, fontSize: 34, fontWeight: 700, marginTop: 10 }}&gt;五个角色，各管一件事，结论汇到仲裁&lt;/Text&gt;&#10;&#10;  &lt;Box style={{ display: &quot;flex&quot;, flexDirection: &quot;column&quot;, alignItems: &quot;center&quot;, marginTop: 24, gap: 15 }}&gt;&#10;    &lt;Box style={{ background: &quot;rgba(34,197,94,0.12)&quot;, border: &quot;1px solid #22C55E&quot;, borderRadius: 10, padding: &quot;17px 32px&quot;, display: &quot;flex&quot;, flexDirection: &quot;row&quot;, alignItems: &quot;center&quot;, gap: 20 }}&gt;&#10;      &lt;Text style={{ color: &quot;#22C55E&quot;, fontSize: 20, fontWeight: 700 }}&gt;意图官&lt;/Text&gt;&#10;      &lt;Text style={{ color: &quot;#D1D5DB&quot;, fontSize: 16 }}&gt;听懂诉求，抽出工具与槽位，缺参数就问&lt;/Text&gt;&#10;    &lt;/Box&gt;&#10;    &lt;Text style={{ color: &quot;#4B5563&quot;, fontSize: 16 }}&gt;↓ 派发&lt;/Text&gt;&#10;    &lt;Box style={{ display: &quot;flex&quot;, flexDirection: &quot;row&quot;, gap: 20 }}&gt;&#10;      &lt;Box style={{ width: 300, background: &quot;rgba(245,158,11,0.10)&quot;, border: &quot;1px solid rgba(245,158,11,0.5)&quot;, borderRadius: 10, padding: &quot;22px 20px&quot; }}&gt;&#10;        &lt;Text style={{ color: &quot;#F59E0B&quot;, fontSize: 19, fontWeight: 700 }}&gt;风控官&lt;/Text&gt;&#10;        &lt;Text style={{ color: &quot;#9CA3AF&quot;, fontSize: 15, lineHeight: 1.65, marginTop: 8 }}&gt;按策略判风险，四维叠加，输出命中规则&lt;/Text&gt;&#10;      &lt;/Box&gt;&#10;      &lt;Box style={{ width: 300, background: &quot;rgba(239,68,68,0.10)&quot;, border: &quot;1px solid rgba(239,68,68,0.5)&quot;, borderRadius: 10, padding: &quot;22px 20px&quot; }}&gt;&#10;        &lt;Text style={{ color: &quot;#EF4444&quot;, fontSize: 19, fontWeight: 700 }}&gt;合规官&lt;/Text&gt;&#10;        &lt;Text style={{ color: &quot;#9CA3AF&quot;, fontSize: 15, lineHeight: 1.65, marginTop: 8 }}&gt;查收款人来源，查工具白名单，只做否决&lt;/Text&gt;&#10;      &lt;/Box&gt;&#10;      &lt;Box style={{ width: 300, background: &quot;rgba(107,114,128,0.12)&quot;, border: &quot;1px solid rgba(107,114,128,0.5)&quot;, borderRadius: 10, padding: &quot;22px 20px&quot; }}&gt;&#10;        &lt;Text style={{ color: &quot;#D1D5DB&quot;, fontSize: 19, fontWeight: 700 }}&gt;体验官&lt;/Text&gt;&#10;        &lt;Text style={{ color: &quot;#9CA3AF&quot;, fontSize: 15, lineHeight: 1.65, marginTop: 8 }}&gt;判断还缺什么，给替代路径，不参与风险&lt;/Text&gt;&#10;      &lt;/Box&gt;&#10;    &lt;/Box&gt;&#10;    &lt;Text style={{ color: &quot;#4B5563&quot;, fontSize: 16 }}&gt;↓ 三份结论并行汇入&lt;/Text&gt;&#10;    &lt;Box style={{ background: &quot;rgba(59,130,246,0.12)&quot;, border: &quot;1px solid #3B82F6&quot;, borderRadius: 10, padding: &quot;17px 32px&quot;, display: &quot;flex&quot;, flexDirection: &quot;row&quot;, alignItems: &quot;center&quot;, gap: 20 }}&gt;&#10;      &lt;Text style={{ color: &quot;#3B82F6&quot;, fontSize: 20, fontWeight: 700 }}&gt;仲裁官&lt;/Text&gt;&#10;      &lt;Text style={{ color: &quot;#D1D5DB&quot;, fontSize: 16 }}&gt;取最高风险，合并理由，任一否决即拦&lt;/Text&gt;&#10;    &lt;/Box&gt;&#10;    &lt;Box style={{ display: &quot;flex&quot;, flexDirection: &quot;row&quot;, gap: 20, marginTop: 4 }}&gt;&#10;      &lt;Box style={{ background: &quot;rgba(34,197,94,0.10)&quot;, border: &quot;1px solid rgba(34,197,94,0.5)&quot;, borderRadius: 10, padding: &quot;16px 28px&quot; }}&gt;&#10;        &lt;Text style={{ color: &quot;#22C55E&quot;, fontSize: 18, fontWeight: 700 }}&gt;执行官　执行或签发令牌&lt;/Text&gt;&#10;      &lt;/Box&gt;&#10;      &lt;Box style={{ background: &quot;rgba(34,197,94,0.10)&quot;, border: &quot;1px solid rgba(34,197,94,0.5)&quot;, borderRadius: 10, padding: &quot;16px 28px&quot; }}&gt;&#10;        &lt;Text style={{ color: &quot;#22C55E&quot;, fontSize: 18, fontWeight: 700 }}&gt;审计官　写入哈希链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方案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五个角色，各管一件事，结论汇到仲裁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4038600" y="1295400"/>
            <a:ext cx="4114800" cy="552450"/>
          </a:xfrm>
          <a:prstGeom prst="roundRect">
            <a:avLst>
              <a:gd name="adj" fmla="val 17241"/>
            </a:avLst>
          </a:prstGeom>
          <a:solidFill>
            <a:srgbClr val="22C55E">
              <a:alpha val="12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343400" y="1457325"/>
            <a:ext cx="571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C55E"/>
                </a:solidFill>
                <a:latin typeface="Microsoft YaHei"/>
                <a:ea typeface="Microsoft YaHei"/>
              </a:rPr>
              <a:t>意图官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5105400" y="1476375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听懂诉求，抽出工具与槽位，缺参数就问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5886450" y="1990725"/>
            <a:ext cx="428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B5563"/>
                </a:solidFill>
                <a:latin typeface="Microsoft YaHei"/>
                <a:ea typeface="Microsoft YaHei"/>
              </a:rPr>
              <a:t xml:space="preserve">↓ </a:t>
            </a:r>
            <a:r>
              <a:rPr lang="zh-CN" sz="1200">
                <a:solidFill>
                  <a:srgbClr val="4B5563"/>
                </a:solidFill>
                <a:latin typeface="Microsoft YaHei"/>
                <a:ea typeface="Microsoft YaHei"/>
              </a:rPr>
              <a:t>派发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1619250" y="2324100"/>
            <a:ext cx="2857500" cy="1285875"/>
          </a:xfrm>
          <a:prstGeom prst="roundRect">
            <a:avLst>
              <a:gd name="adj" fmla="val 7407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809750" y="2533650"/>
            <a:ext cx="2476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59E0B"/>
                </a:solidFill>
                <a:latin typeface="Microsoft YaHei"/>
                <a:ea typeface="Microsoft YaHei"/>
              </a:rPr>
              <a:t>风控官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1809750" y="2828925"/>
            <a:ext cx="24765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按策略判风险，四维叠加，输出命中规则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4667250" y="2324100"/>
            <a:ext cx="2857500" cy="1285875"/>
          </a:xfrm>
          <a:prstGeom prst="roundRect">
            <a:avLst>
              <a:gd name="adj" fmla="val 7407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4857750" y="2533650"/>
            <a:ext cx="2476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F4444"/>
                </a:solidFill>
                <a:latin typeface="Microsoft YaHei"/>
                <a:ea typeface="Microsoft YaHei"/>
              </a:rPr>
              <a:t>合规官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4857750" y="2828925"/>
            <a:ext cx="24765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查收款人来源，查工具白名单，只做否决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7715250" y="2324100"/>
            <a:ext cx="2857500" cy="1285875"/>
          </a:xfrm>
          <a:prstGeom prst="roundRect">
            <a:avLst>
              <a:gd name="adj" fmla="val 7407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7905750" y="2533650"/>
            <a:ext cx="2476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1D5DB"/>
                </a:solidFill>
                <a:latin typeface="Microsoft YaHei"/>
                <a:ea typeface="Microsoft YaHei"/>
              </a:rPr>
              <a:t>体验官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7905750" y="2828925"/>
            <a:ext cx="24765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判断还缺什么，给替代路径，不参与风险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5429250" y="3752850"/>
            <a:ext cx="1343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B5563"/>
                </a:solidFill>
                <a:latin typeface="Microsoft YaHei"/>
                <a:ea typeface="Microsoft YaHei"/>
              </a:rPr>
              <a:t xml:space="preserve">↓ </a:t>
            </a:r>
            <a:r>
              <a:rPr lang="zh-CN" sz="1200">
                <a:solidFill>
                  <a:srgbClr val="4B5563"/>
                </a:solidFill>
                <a:latin typeface="Microsoft YaHei"/>
                <a:ea typeface="Microsoft YaHei"/>
              </a:rPr>
              <a:t>三份结论并行汇入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4114800" y="4086225"/>
            <a:ext cx="3962400" cy="552450"/>
          </a:xfrm>
          <a:prstGeom prst="roundRect">
            <a:avLst>
              <a:gd name="adj" fmla="val 17241"/>
            </a:avLst>
          </a:prstGeom>
          <a:solidFill>
            <a:srgbClr val="3B82F6">
              <a:alpha val="12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4419600" y="4248150"/>
            <a:ext cx="571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3B82F6"/>
                </a:solidFill>
                <a:latin typeface="Microsoft YaHei"/>
                <a:ea typeface="Microsoft YaHei"/>
              </a:rPr>
              <a:t>仲裁官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5181600" y="4267200"/>
            <a:ext cx="259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D1D5DB"/>
                </a:solidFill>
                <a:latin typeface="Microsoft YaHei"/>
                <a:ea typeface="Microsoft YaHei"/>
              </a:rPr>
              <a:t>取最高风险，合并理由，任一否决即拦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3752850" y="4819650"/>
            <a:ext cx="2419350" cy="514350"/>
          </a:xfrm>
          <a:prstGeom prst="roundRect">
            <a:avLst>
              <a:gd name="adj" fmla="val 18519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019550" y="4972050"/>
            <a:ext cx="18859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22C55E"/>
                </a:solidFill>
                <a:latin typeface="Microsoft YaHei"/>
                <a:ea typeface="Microsoft YaHei"/>
              </a:rPr>
              <a:t>执行官　执行或签发令牌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6362700" y="4819650"/>
            <a:ext cx="2076450" cy="514350"/>
          </a:xfrm>
          <a:prstGeom prst="roundRect">
            <a:avLst>
              <a:gd name="adj" fmla="val 18519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629400" y="4972050"/>
            <a:ext cx="15430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22C55E"/>
                </a:solidFill>
                <a:latin typeface="Microsoft YaHei"/>
                <a:ea typeface="Microsoft YaHei"/>
              </a:rPr>
              <a:t>审计官　写入哈希链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25" name="" descr="&lt;Slide style={{ background: &quot;#0B1220&quot;, padding: &quot;44px 72px&quot;, display: &quot;flex&quot;, flexDirection: &quot;column&quot; }}&gt;&#10;  &lt;Text style={{ color: &quot;#6B7280&quot;, fontSize: 14, letterSpacing: 3 }}&gt;一条链路&lt;/Text&gt;&#10;  &lt;Text style={{ color: &quot;#F7F4EC&quot;, fontSize: 34, fontWeight: 700, marginTop: 10 }}&gt;「转给小王 100 元」走完七步&lt;/Text&gt;&#10;&#10;  &lt;Box style={{ display: &quot;flex&quot;, flexDirection: &quot;row&quot;, gap: 40, marginTop: 28 }}&gt;&#10;    &lt;Box style={{ flex: 1, display: &quot;flex&quot;, flexDirection: &quot;column&quot;, gap: 15 }}&gt;&#10;      &lt;Box style={{ display: &quot;flex&quot;, flexDirection: &quot;row&quot;, gap: 16, alignItems: &quot;center&quot;, background: &quot;rgba(34,197,94,0.08)&quot;, borderLeft: &quot;3px solid #22C55E&quot;, padding: &quot;16px 16px&quot; }}&gt;&#10;        &lt;Text style={{ color: &quot;#22C55E&quot;, fontSize: 15, fontFamily: &quot;JetBrains Mono, monospace&quot;, width: 28 }}&gt;01&lt;/Text&gt;&#10;        &lt;Text style={{ color: &quot;#F7F4EC&quot;, fontSize: 18, fontWeight: 600, width: 96 }}&gt;输入守卫&lt;/Text&gt;&#10;        &lt;Text style={{ color: &quot;#9CA3AF&quot;, fontSize: 15 }}&gt;归一化，识别注入特征，命中即拦&lt;/Text&gt;&#10;      &lt;/Box&gt;&#10;      &lt;Box style={{ display: &quot;flex&quot;, flexDirection: &quot;row&quot;, gap: 16, alignItems: &quot;center&quot;, background: &quot;rgba(34,197,94,0.08)&quot;, borderLeft: &quot;3px solid #22C55E&quot;, padding: &quot;16px 16px&quot; }}&gt;&#10;        &lt;Text style={{ color: &quot;#22C55E&quot;, fontSize: 15, fontFamily: &quot;JetBrains Mono, monospace&quot;, width: 28 }}&gt;02&lt;/Text&gt;&#10;        &lt;Text style={{ color: &quot;#F7F4EC&quot;, fontSize: 18, fontWeight: 600, width: 96 }}&gt;意图官&lt;/Text&gt;&#10;        &lt;Text style={{ color: &quot;#9CA3AF&quot;, fontSize: 15 }}&gt;落到 transfer，payee 小王，金额 10000 分&lt;/Text&gt;&#10;      &lt;/Box&gt;&#10;      &lt;Box style={{ display: &quot;flex&quot;, flexDirection: &quot;row&quot;, gap: 16, alignItems: &quot;center&quot;, background: &quot;rgba(245,158,11,0.08)&quot;, borderLeft: &quot;3px solid #F59E0B&quot;, padding: &quot;16px 16px&quot; }}&gt;&#10;        &lt;Text style={{ color: &quot;#F59E0B&quot;, fontSize: 15, fontFamily: &quot;JetBrains Mono, monospace&quot;, width: 28 }}&gt;03&lt;/Text&gt;&#10;        &lt;Text style={{ color: &quot;#F7F4EC&quot;, fontSize: 18, fontWeight: 600, width: 96 }}&gt;三评估并行&lt;/Text&gt;&#10;        &lt;Text style={{ color: &quot;#9CA3AF&quot;, fontSize: 15 }}&gt;风控判黄，合规放行，体验无需追问&lt;/Text&gt;&#10;      &lt;/Box&gt;&#10;      &lt;Box style={{ display: &quot;flex&quot;, flexDirection: &quot;row&quot;, gap: 16, alignItems: &quot;center&quot;, background: &quot;rgba(245,158,11,0.08)&quot;, borderLeft: &quot;3px solid #F59E0B&quot;, padding: &quot;16px 16px&quot; }}&gt;&#10;        &lt;Text style={{ color: &quot;#F59E0B&quot;, fontSize: 15, fontFamily: &quot;JetBrains Mono, monospace&quot;, width: 28 }}&gt;04&lt;/Text&gt;&#10;        &lt;Text style={{ color: &quot;#F7F4EC&quot;, fontSize: 18, fontWeight: 600, width: 96 }}&gt;仲裁官&lt;/Text&gt;&#10;        &lt;Text style={{ color: &quot;#9CA3AF&quot;, fontSize: 15 }}&gt;绿绿黄取最高，判黄，需确认&lt;/Text&gt;&#10;      &lt;/Box&gt;&#10;      &lt;Box style={{ display: &quot;flex&quot;, flexDirection: &quot;row&quot;, gap: 16, alignItems: &quot;center&quot;, background: &quot;rgba(245,158,11,0.08)&quot;, borderLeft: &quot;3px solid #F59E0B&quot;, padding: &quot;16px 16px&quot; }}&gt;&#10;        &lt;Text style={{ color: &quot;#F59E0B&quot;, fontSize: 15, fontFamily: &quot;JetBrains Mono, monospace&quot;, width: 28 }}&gt;05&lt;/Text&gt;&#10;        &lt;Text style={{ color: &quot;#F7F4EC&quot;, fontSize: 18, fontWeight: 600, width: 96 }}&gt;确认令牌&lt;/Text&gt;&#10;        &lt;Text style={{ color: &quot;#9CA3AF&quot;, fontSize: 15 }}&gt;绑定会话、工具、参数摘要，120 秒有效&lt;/Text&gt;&#10;      &lt;/Box&gt;&#10;      &lt;Box style={{ display: &quot;flex&quot;, flexDirection: &quot;row&quot;, gap: 16, alignItems: &quot;center&quot;, background: &quot;rgba(34,197,94,0.08)&quot;, borderLeft: &quot;3px solid #22C55E&quot;, padding: &quot;16px 16px&quot; }}&gt;&#10;        &lt;Text style={{ color: &quot;#22C55E&quot;, fontSize: 15, fontFamily: &quot;JetBrains Mono, monospace&quot;, width: 28 }}&gt;06&lt;/Text&gt;&#10;        &lt;Text style={{ color: &quot;#F7F4EC&quot;, fontSize: 18, fontWeight: 600, width: 96 }}&gt;执行官&lt;/Text&gt;&#10;        &lt;Text style={{ color: &quot;#9CA3AF&quot;, fontSize: 15 }}&gt;重算摘要比对通过，扣账&lt;/Text&gt;&#10;      &lt;/Box&gt;&#10;      &lt;Box style={{ display: &quot;flex&quot;, flexDirection: &quot;row&quot;, gap: 16, alignItems: &quot;center&quot;, background: &quot;rgba(34,197,94,0.08)&quot;, borderLeft: &quot;3px solid #22C55E&quot;, padding: &quot;16px 16px&quot; }}&gt;&#10;        &lt;Text style={{ color: &quot;#22C55E&quot;, fontSize: 15, fontFamily: &quot;JetBrains Mono, monospace&quot;, width: 28 }}&gt;07&lt;/Text&gt;&#10;        &lt;Text style={{ color: &quot;#F7F4EC&quot;, fontSize: 18, fontWeight: 600, width: 96 }}&gt;审计官&lt;/Text&gt;&#10;        &lt;Text style={{ color: &quot;#9CA3AF&quot;, fontSize: 15 }}&gt;写链，序号递增，前序哈希串起来&lt;/Text&gt;&#10;      &lt;/Box&gt;&#10;      &lt;Text style={{ color: &quot;#6B7280&quot;, fontSize: 14, lineHeight: 1.7, marginTop: 4 }}&gt;每一步的输入输出都写进审计记录，界面上可逐条展开核对。&lt;/Text&gt;&#10;    &lt;/Box&gt;&#10;&#10;    &lt;Box style={{ width: 320, display: &quot;flex&quot;, flexDirection: &quot;column&quot;, gap: 14, background: &quot;rgba(59,130,246,0.08)&quot;, border: &quot;1px solid rgba(59,130,246,0.35)&quot;, borderRadius: 12, padding: 24, display: &quot;flex&quot;, flexDirection: &quot;column&quot;, justifyContent: &quot;flex-start&quot; }}&gt;&#10;      &lt;Text style={{ color: &quot;#93C5FD&quot;, fontSize: 18, fontWeight: 700 }}&gt;为什么拆成七步&lt;/Text&gt;&#10;      &lt;Text style={{ color: &quot;#9CA3AF&quot;, fontSize: 16, lineHeight: 1.8, marginTop: 12 }}&gt;每一步都能单独测、单独改、单独讲。判错了看第七步之前的记录，改规则只动一个角色，不影响主流程。&lt;/Text&gt;&#10;      &lt;Box style={{ display: &quot;flex&quot;, flexDirection: &quot;column&quot;, gap: 9, marginTop: 16 }}&gt;&#10;        &lt;Text style={{ color: &quot;#D1D5DB&quot;, fontSize: 15, lineHeight: 1.6 }}&gt;前三步只看用户说了什么&lt;/Text&gt;&#10;        &lt;Text style={{ color: &quot;#D1D5DB&quot;, fontSize: 15, lineHeight: 1.6 }}&gt;中间两步决定能不能办&lt;/Text&gt;&#10;        &lt;Text style={{ color: &quot;#D1D5DB&quot;, fontSize: 15, lineHeight: 1.6 }}&gt;后两步保证办完能回看&lt;/Text&gt;&#10;      &lt;/Box&gt;&#10;      &lt;Text style={{ color: &quot;#6B7280&quot;, fontSize: 14, lineHeight: 1.7, marginTop: 16 }}&gt;七步的结论全部写进审计，界面上可以逐条展开。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一条链路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「转给小王</a:t>
            </a:r>
            <a:r>
              <a:rPr lang="en-US" sz="2550" b="1">
                <a:solidFill>
                  <a:srgbClr val="F7F4EC"/>
                </a:solidFill>
                <a:latin typeface="Microsoft YaHei"/>
                <a:ea typeface="Microsoft YaHei"/>
              </a:rPr>
              <a:t xml:space="preserve"> 100 </a:t>
            </a: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元」走完七步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714375" y="1333500"/>
            <a:ext cx="7391400" cy="514350"/>
          </a:xfrm>
          <a:prstGeom prst="rect">
            <a:avLst/>
          </a:prstGeom>
          <a:solidFill>
            <a:srgbClr val="22C55E">
              <a:alpha val="8000"/>
            </a:srgbClr>
          </a:solidFill>
          <a:ln/>
        </p:spPr>
        <p:txBody>
          <a:bodyPr/>
          <a:p/>
        </p:txBody>
      </p:sp>
      <p:sp>
        <p:nvSpPr>
          <p:cNvPr id="230" name=""/>
          <p:cNvSpPr/>
          <p:nvPr/>
        </p:nvSpPr>
        <p:spPr>
          <a:xfrm rot="0" flipH="0" flipV="0">
            <a:off x="685800" y="1333500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866775" y="1504950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2C55E"/>
                </a:solidFill>
                <a:latin typeface="JetBrains Mono"/>
                <a:ea typeface="JetBrains Mono"/>
              </a:rPr>
              <a:t>01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285875" y="1485900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输入守卫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2352675" y="1504950"/>
            <a:ext cx="214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归一化，识别注入特征，命中即拦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714375" y="1990725"/>
            <a:ext cx="7391400" cy="514350"/>
          </a:xfrm>
          <a:prstGeom prst="rect">
            <a:avLst/>
          </a:prstGeom>
          <a:solidFill>
            <a:srgbClr val="22C55E">
              <a:alpha val="8000"/>
            </a:srgbClr>
          </a:solidFill>
          <a:ln/>
        </p:spPr>
        <p:txBody>
          <a:bodyPr/>
          <a:p/>
        </p:txBody>
      </p:sp>
      <p:sp>
        <p:nvSpPr>
          <p:cNvPr id="235" name=""/>
          <p:cNvSpPr/>
          <p:nvPr/>
        </p:nvSpPr>
        <p:spPr>
          <a:xfrm rot="0" flipH="0" flipV="0">
            <a:off x="685800" y="1990725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66775" y="2162175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2C55E"/>
                </a:solidFill>
                <a:latin typeface="JetBrains Mono"/>
                <a:ea typeface="JetBrains Mono"/>
              </a:rPr>
              <a:t>02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285875" y="21431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意图官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2352675" y="2162175"/>
            <a:ext cx="2809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落到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 transfer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payee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小王，金额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 10000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714375" y="2647950"/>
            <a:ext cx="7391400" cy="514350"/>
          </a:xfrm>
          <a:prstGeom prst="rect">
            <a:avLst/>
          </a:prstGeom>
          <a:solidFill>
            <a:srgbClr val="F59E0B">
              <a:alpha val="8000"/>
            </a:srgbClr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685800" y="2647950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866775" y="2819400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59E0B"/>
                </a:solidFill>
                <a:latin typeface="JetBrains Mono"/>
                <a:ea typeface="JetBrains Mono"/>
              </a:rPr>
              <a:t>03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1285875" y="2800350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三评估并行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2352675" y="2819400"/>
            <a:ext cx="2286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风控判黄，合规放行，体验无需追问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714375" y="3305175"/>
            <a:ext cx="7391400" cy="514350"/>
          </a:xfrm>
          <a:prstGeom prst="rect">
            <a:avLst/>
          </a:prstGeom>
          <a:solidFill>
            <a:srgbClr val="F59E0B">
              <a:alpha val="8000"/>
            </a:srgbClr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685800" y="3305175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866775" y="3476625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59E0B"/>
                </a:solidFill>
                <a:latin typeface="JetBrains Mono"/>
                <a:ea typeface="JetBrains Mono"/>
              </a:rPr>
              <a:t>04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285875" y="345757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仲裁官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2352675" y="3476625"/>
            <a:ext cx="1857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绿绿黄取最高，判黄，需确认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714375" y="3962400"/>
            <a:ext cx="7391400" cy="514350"/>
          </a:xfrm>
          <a:prstGeom prst="rect">
            <a:avLst/>
          </a:prstGeom>
          <a:solidFill>
            <a:srgbClr val="F59E0B">
              <a:alpha val="8000"/>
            </a:srgbClr>
          </a:solidFill>
          <a:ln/>
        </p:spPr>
        <p:txBody>
          <a:bodyPr/>
          <a:p/>
        </p:txBody>
      </p:sp>
      <p:sp>
        <p:nvSpPr>
          <p:cNvPr id="250" name=""/>
          <p:cNvSpPr/>
          <p:nvPr/>
        </p:nvSpPr>
        <p:spPr>
          <a:xfrm rot="0" flipH="0" flipV="0">
            <a:off x="685800" y="3962400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866775" y="4133850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59E0B"/>
                </a:solidFill>
                <a:latin typeface="JetBrains Mono"/>
                <a:ea typeface="JetBrains Mono"/>
              </a:rPr>
              <a:t>05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285875" y="4114800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确认令牌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2352675" y="4133850"/>
            <a:ext cx="2581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绑定会话、工具、参数摘要，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120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秒有效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714375" y="4619625"/>
            <a:ext cx="7391400" cy="514350"/>
          </a:xfrm>
          <a:prstGeom prst="rect">
            <a:avLst/>
          </a:prstGeom>
          <a:solidFill>
            <a:srgbClr val="22C55E">
              <a:alpha val="8000"/>
            </a:srgbClr>
          </a:solidFill>
          <a:ln/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685800" y="4619625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866775" y="4791075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2C55E"/>
                </a:solidFill>
                <a:latin typeface="JetBrains Mono"/>
                <a:ea typeface="JetBrains Mono"/>
              </a:rPr>
              <a:t>06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285875" y="4772025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执行官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2352675" y="4791075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重算摘要比对通过，扣账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714375" y="5276850"/>
            <a:ext cx="7391400" cy="514350"/>
          </a:xfrm>
          <a:prstGeom prst="rect">
            <a:avLst/>
          </a:prstGeom>
          <a:solidFill>
            <a:srgbClr val="22C55E">
              <a:alpha val="8000"/>
            </a:srgbClr>
          </a:solidFill>
          <a:ln/>
        </p:spPr>
        <p:txBody>
          <a:bodyPr/>
          <a:p/>
        </p:txBody>
      </p:sp>
      <p:sp>
        <p:nvSpPr>
          <p:cNvPr id="260" name=""/>
          <p:cNvSpPr/>
          <p:nvPr/>
        </p:nvSpPr>
        <p:spPr>
          <a:xfrm rot="0" flipH="0" flipV="0">
            <a:off x="685800" y="5276850"/>
            <a:ext cx="7419975" cy="514350"/>
          </a:xfrm>
          <a:custGeom>
            <a:pathLst>
              <a:path w="779" h="54">
                <a:moveTo>
                  <a:pt x="0" y="0"/>
                </a:moveTo>
                <a:lnTo>
                  <a:pt x="3" y="0"/>
                </a:lnTo>
                <a:lnTo>
                  <a:pt x="3" y="54"/>
                </a:lnTo>
                <a:lnTo>
                  <a:pt x="0" y="54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866775" y="5448300"/>
            <a:ext cx="266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22C55E"/>
                </a:solidFill>
                <a:latin typeface="JetBrains Mono"/>
                <a:ea typeface="JetBrains Mono"/>
              </a:rPr>
              <a:t>07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285875" y="5429250"/>
            <a:ext cx="91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审计官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2352675" y="5448300"/>
            <a:ext cx="214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写链，序号递增，前序哈希串起来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85800" y="5972175"/>
            <a:ext cx="73914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6B7280"/>
                </a:solidFill>
                <a:latin typeface="Microsoft YaHei"/>
                <a:ea typeface="Microsoft YaHei"/>
              </a:rPr>
              <a:t>每一步的输入输出都写进审计记录，界面上可逐条展开核对。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8458200" y="1333500"/>
            <a:ext cx="3048000" cy="4914900"/>
          </a:xfrm>
          <a:prstGeom prst="roundRect">
            <a:avLst>
              <a:gd name="adj" fmla="val 3750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8686800" y="1562100"/>
            <a:ext cx="2590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93C5FD"/>
                </a:solidFill>
                <a:latin typeface="Microsoft YaHei"/>
                <a:ea typeface="Microsoft YaHei"/>
              </a:rPr>
              <a:t>为什么拆成七步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8686800" y="2019300"/>
            <a:ext cx="259080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每一步都能单独测、单独改、单独讲。判错了看第七步之前的记录，改规则只动一个角色，不影响主流程。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8686800" y="3295650"/>
            <a:ext cx="25908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前三步只看用户说了什么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8686800" y="3657600"/>
            <a:ext cx="25908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中间两步决定能不能办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8686800" y="4019550"/>
            <a:ext cx="25908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后两步保证办完能回看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8686800" y="4581525"/>
            <a:ext cx="25908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6B7280"/>
                </a:solidFill>
                <a:latin typeface="Microsoft YaHei"/>
                <a:ea typeface="Microsoft YaHei"/>
              </a:rPr>
              <a:t>七步的结论全部写进审计，界面上可以逐条展开。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安全设计</a:t>
            </a:r>
            <a:r>
              <a:rPr lang="en-US" sz="1050" spc="225">
                <a:solidFill>
                  <a:srgbClr val="6B72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一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权限分级：绿黄红三色，四维叠加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685800" y="1371600"/>
            <a:ext cx="3457575" cy="2857500"/>
          </a:xfrm>
          <a:prstGeom prst="roundRect">
            <a:avLst>
              <a:gd name="adj" fmla="val 4000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914400" y="1600200"/>
            <a:ext cx="3000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22C55E"/>
                </a:solidFill>
                <a:latin typeface="Microsoft YaHei"/>
                <a:ea typeface="Microsoft YaHei"/>
              </a:rPr>
              <a:t>绿　直连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914400" y="2019300"/>
            <a:ext cx="3000375" cy="1000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D1D5DB"/>
                </a:solidFill>
                <a:latin typeface="Microsoft YaHei"/>
                <a:ea typeface="Microsoft YaHei"/>
              </a:rPr>
              <a:t>只读查询，无金额变动，可逆或无代价。查余额、看账单、列订阅，一次请求返回结果。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914400" y="3171825"/>
            <a:ext cx="3000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执行前无二次确认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4371975" y="1371600"/>
            <a:ext cx="3448050" cy="2857500"/>
          </a:xfrm>
          <a:prstGeom prst="roundRect">
            <a:avLst>
              <a:gd name="adj" fmla="val 4000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4600575" y="1600200"/>
            <a:ext cx="2990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59E0B"/>
                </a:solidFill>
                <a:latin typeface="Microsoft YaHei"/>
                <a:ea typeface="Microsoft YaHei"/>
              </a:rPr>
              <a:t>黄　令牌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4600575" y="2019300"/>
            <a:ext cx="2990850" cy="1000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D1D5DB"/>
                </a:solidFill>
                <a:latin typeface="Microsoft YaHei"/>
                <a:ea typeface="Microsoft YaHei"/>
              </a:rPr>
              <a:t>写操作但可控可逆。转账、取消订阅、锁卡，先签发一次性确认令牌，参数摘要一致才执行。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4600575" y="3171825"/>
            <a:ext cx="299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须用户明确确认一次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8048625" y="1371600"/>
            <a:ext cx="3457575" cy="2857500"/>
          </a:xfrm>
          <a:prstGeom prst="roundRect">
            <a:avLst>
              <a:gd name="adj" fmla="val 4000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8277225" y="1600200"/>
            <a:ext cx="3000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EF4444"/>
                </a:solidFill>
                <a:latin typeface="Microsoft YaHei"/>
                <a:ea typeface="Microsoft YaHei"/>
              </a:rPr>
              <a:t>红　拦截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277225" y="2019300"/>
            <a:ext cx="3000375" cy="1000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D1D5DB"/>
                </a:solidFill>
                <a:latin typeface="Microsoft YaHei"/>
                <a:ea typeface="Microsoft YaHei"/>
              </a:rPr>
              <a:t>不可逆或越权。挂失、赎回、解冻、冻结、越界金额，一律拒绝执行，不提供确认通道。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277225" y="3171825"/>
            <a:ext cx="3000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任何确认都不能放行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685800" y="4495800"/>
            <a:ext cx="6181725" cy="1190625"/>
          </a:xfrm>
          <a:custGeom>
            <a:pathLst>
              <a:path w="649" h="125">
                <a:moveTo>
                  <a:pt x="0" y="0"/>
                </a:moveTo>
                <a:lnTo>
                  <a:pt x="649" y="0"/>
                </a:lnTo>
                <a:lnTo>
                  <a:pt x="649" y="2"/>
                </a:lnTo>
                <a:lnTo>
                  <a:pt x="0" y="2"/>
                </a:lnTo>
                <a:close/>
              </a:path>
            </a:pathLst>
          </a:custGeom>
          <a:solidFill>
            <a:srgbClr val="374151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85800" y="4686300"/>
            <a:ext cx="6181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7F4EC"/>
                </a:solidFill>
                <a:latin typeface="Microsoft YaHei"/>
                <a:ea typeface="Microsoft YaHei"/>
              </a:rPr>
              <a:t>四个维度叠加判定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685800" y="5000625"/>
            <a:ext cx="618172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操作类型、涉及金额、收款人身份、可逆性、发生频次。任一维度命中更高等级，等级取最高。每条命中都带规则编号与具体说明，不只给一个颜色。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7096125" y="4495800"/>
            <a:ext cx="4410075" cy="1190625"/>
          </a:xfrm>
          <a:custGeom>
            <a:pathLst>
              <a:path w="463" h="125">
                <a:moveTo>
                  <a:pt x="0" y="0"/>
                </a:moveTo>
                <a:lnTo>
                  <a:pt x="463" y="0"/>
                </a:lnTo>
                <a:lnTo>
                  <a:pt x="463" y="2"/>
                </a:lnTo>
                <a:lnTo>
                  <a:pt x="0" y="2"/>
                </a:lnTo>
                <a:close/>
              </a:path>
            </a:pathLst>
          </a:custGeom>
          <a:solidFill>
            <a:srgbClr val="374151"/>
          </a:solidFill>
          <a:ln/>
        </p:spPr>
        <p:txBody>
          <a:bodyPr/>
          <a:p>
            <a:pPr/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096125" y="4686300"/>
            <a:ext cx="441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7F4EC"/>
                </a:solidFill>
                <a:latin typeface="Microsoft YaHei"/>
                <a:ea typeface="Microsoft YaHei"/>
              </a:rPr>
              <a:t>令牌四绑定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096125" y="5000625"/>
            <a:ext cx="441007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绑定会话、工具、参数摘要、过期时间。执行前重算摘要比对，参数被改过则令牌失效。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94" name="" descr="&lt;Slide style={{ background: &quot;#0B1220&quot;, padding: &quot;36px 72px&quot;, display: &quot;flex&quot;, flexDirection: &quot;column&quot; }}&gt;&#10;  &lt;Text style={{ color: &quot;#6B7280&quot;, fontSize: 14, letterSpacing: 3 }}&gt;安全设计 · 二&lt;/Text&gt;&#10;  &lt;Text style={{ color: &quot;#F7F4EC&quot;, fontSize: 34, fontWeight: 700, marginTop: 10 }}&gt;注入防御：模型不碰执行，判断全在代码&lt;/Text&gt;&#10;&#10;  &lt;Box style={{ display: &quot;flex&quot;, flexDirection: &quot;row&quot;, gap: 32, marginTop: 26 }}&gt;&#10;    &lt;Box style={{ flex: 1.15, display: &quot;flex&quot;, flexDirection: &quot;column&quot;, gap: 10 }}&gt;&#10;      &lt;Text style={{ color: &quot;#F7F4EC&quot;, fontSize: 20, fontWeight: 600 }}&gt;四道闸，顺序固定&lt;/Text&gt;&#10;      &lt;Box style={{ background: &quot;rgba(34,197,94,0.08)&quot;, borderLeft: &quot;3px solid #22C55E&quot;, padding: &quot;10px 14px&quot; }}&gt;&#10;        &lt;Text style={{ color: &quot;#22C55E&quot;, fontSize: 16, fontWeight: 600 }}&gt;闸一　输入守卫&lt;/Text&gt;&#10;        &lt;Text style={{ color: &quot;#9CA3AF&quot;, fontSize: 15, lineHeight: 1.6, marginTop: 5 }}&gt;归一化文本，识别指令覆盖、角色伪装、越权索取四类特征，命中即拦，模型看不到这段话。&lt;/Text&gt;&#10;      &lt;/Box&gt;&#10;      &lt;Box style={{ background: &quot;rgba(245,158,11,0.08)&quot;, borderLeft: &quot;3px solid #F59E0B&quot;, padding: &quot;10px 14px&quot; }}&gt;&#10;        &lt;Text style={{ color: &quot;#F59E0B&quot;, fontSize: 16, fontWeight: 600 }}&gt;闸二　职责隔离&lt;/Text&gt;&#10;        &lt;Text style={{ color: &quot;#9CA3AF&quot;, fontSize: 15, lineHeight: 1.6, marginTop: 5 }}&gt;模型只做两件事：理解诉求、选工具。风险判定与参数校验全在代码层，模型说了不算。&lt;/Text&gt;&#10;      &lt;/Box&gt;&#10;      &lt;Box style={{ background: &quot;rgba(239,68,68,0.08)&quot;, borderLeft: &quot;3px solid #EF4444&quot;, padding: &quot;10px 14px&quot; }}&gt;&#10;        &lt;Text style={{ color: &quot;#EF4444&quot;, fontSize: 16, fontWeight: 600 }}&gt;闸三　外部内容隔离&lt;/Text&gt;&#10;        &lt;Text style={{ color: &quot;#9CA3AF&quot;, fontSize: 15, lineHeight: 1.6, marginTop: 5 }}&gt;外部服务返回按数据处理，不进系统提示词，不当指令读。间接注入因此失效。&lt;/Text&gt;&#10;      &lt;/Box&gt;&#10;      &lt;Box style={{ background: &quot;rgba(59,130,246,0.08)&quot;, borderLeft: &quot;3px solid #3B82F6&quot;, padding: &quot;10px 14px&quot; }}&gt;&#10;        &lt;Text style={{ color: &quot;#93C5FD&quot;, fontSize: 16, fontWeight: 600 }}&gt;闸四　参数收口&lt;/Text&gt;&#10;        &lt;Text style={{ color: &quot;#9CA3AF&quot;, fontSize: 15, lineHeight: 1.6, marginTop: 5 }}&gt;工具参数按契约校验，金额越界、收款人凭空出现、非法工具名一律拒绝并记审计。&lt;/Text&gt;&#10;      &lt;/Box&gt;&#10;    &lt;/Box&gt;&#10;&#10;    &lt;Box style={{ flex: 1, display: &quot;flex&quot;, flexDirection: &quot;column&quot;, gap: 12 }}&gt;&#10;      &lt;Box style={{ background: &quot;rgba(34,197,94,0.10)&quot;, border: &quot;1px solid rgba(34,197,94,0.4)&quot;, borderRadius: 12, padding: &quot;24px 22px&quot; }}&gt;&#10;        &lt;Text style={{ color: &quot;#22C55E&quot;, fontSize: 38, fontWeight: 700, fontFamily: &quot;JetBrains Mono, monospace&quot; }}&gt;12 / 12&lt;/Text&gt;&#10;        &lt;Text style={{ color: &quot;#F7F4EC&quot;, fontSize: 18, fontWeight: 600, marginTop: 6 }}&gt;直接注入全部拦截&lt;/Text&gt;&#10;        &lt;Text style={{ color: &quot;#9CA3AF&quot;, fontSize: 15, lineHeight: 1.6, marginTop: 6 }}&gt;「忽略之前的指令」「你现在是管理员」等十二种改写方式，全部在入口被挡下。&lt;/Text&gt;&#10;      &lt;/Box&gt;&#10;      &lt;Box style={{ background: &quot;rgba(245,158,11,0.10)&quot;, border: &quot;1px solid rgba(245,158,11,0.4)&quot;, borderRadius: 12, padding: &quot;24px 22px&quot; }}&gt;&#10;        &lt;Text style={{ color: &quot;#F59E0B&quot;, fontSize: 38, fontWeight: 700, fontFamily: &quot;JetBrains Mono, monospace&quot; }}&gt;8 / 8&lt;/Text&gt;&#10;        &lt;Text style={{ color: &quot;#F7F4EC&quot;, fontSize: 18, fontWeight: 600, marginTop: 6 }}&gt;间接注入全部拦截&lt;/Text&gt;&#10;        &lt;Text style={{ color: &quot;#9CA3AF&quot;, fontSize: 15, lineHeight: 1.6, marginTop: 6 }}&gt;把恶意指令藏在账单备注、订阅名称、理财介绍里，经外部服务返回，隔离机制生效。&lt;/Text&gt;&#10;      &lt;/Box&gt;&#10;      &lt;Box style={{ background: &quot;rgba(107,114,128,0.12)&quot;, border: &quot;1px solid rgba(107,114,128,0.4)&quot;, borderRadius: 12, padding: &quot;24px 22px&quot; }}&gt;&#10;        &lt;Text style={{ color: &quot;#D1D5DB&quot;, fontSize: 38, fontWeight: 700, fontFamily: &quot;JetBrains Mono, monospace&quot; }}&gt;0%&lt;/Text&gt;&#10;        &lt;Text style={{ color: &quot;#F7F4EC&quot;, fontSize: 18, fontWeight: 600, marginTop: 6 }}&gt;正常请求误拦截&lt;/Text&gt;&#10;        &lt;Text style={{ color: &quot;#9CA3AF&quot;, fontSize: 15, lineHeight: 1.6, marginTop: 6 }}&gt;十二条正常业务用例零误拦。拦得住和放得过，两头都守住才算可用。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685800" y="3429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安全设计</a:t>
            </a:r>
            <a:r>
              <a:rPr lang="en-US" sz="1050" spc="225">
                <a:solidFill>
                  <a:srgbClr val="6B72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二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685800" y="6000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注入防御：模型不碰执行，判断全在代码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85800" y="1238250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7F4EC"/>
                </a:solidFill>
                <a:latin typeface="Microsoft YaHei"/>
                <a:ea typeface="Microsoft YaHei"/>
              </a:rPr>
              <a:t>四道闸，顺序固定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714375" y="1562100"/>
            <a:ext cx="5629275" cy="981075"/>
          </a:xfrm>
          <a:prstGeom prst="rect">
            <a:avLst/>
          </a:prstGeom>
          <a:solidFill>
            <a:srgbClr val="22C55E">
              <a:alpha val="8000"/>
            </a:srgbClr>
          </a:solidFill>
          <a:ln/>
        </p:spPr>
        <p:txBody>
          <a:bodyPr/>
          <a:p/>
        </p:txBody>
      </p:sp>
      <p:sp>
        <p:nvSpPr>
          <p:cNvPr id="300" name=""/>
          <p:cNvSpPr/>
          <p:nvPr/>
        </p:nvSpPr>
        <p:spPr>
          <a:xfrm rot="0" flipH="0" flipV="0">
            <a:off x="685800" y="1562100"/>
            <a:ext cx="5657850" cy="981075"/>
          </a:xfrm>
          <a:custGeom>
            <a:pathLst>
              <a:path w="594" h="103">
                <a:moveTo>
                  <a:pt x="0" y="0"/>
                </a:moveTo>
                <a:lnTo>
                  <a:pt x="3" y="0"/>
                </a:lnTo>
                <a:lnTo>
                  <a:pt x="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22C55E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847725" y="165735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22C55E"/>
                </a:solidFill>
                <a:latin typeface="Microsoft YaHei"/>
                <a:ea typeface="Microsoft YaHei"/>
              </a:rPr>
              <a:t>闸一　输入守卫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847725" y="1895475"/>
            <a:ext cx="5334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归一化文本，识别指令覆盖、角色伪装、越权索取四类特征，命中即拦，模型看不到这段话。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714375" y="2638425"/>
            <a:ext cx="5629275" cy="981075"/>
          </a:xfrm>
          <a:prstGeom prst="rect">
            <a:avLst/>
          </a:prstGeom>
          <a:solidFill>
            <a:srgbClr val="F59E0B">
              <a:alpha val="8000"/>
            </a:srgbClr>
          </a:solidFill>
          <a:ln/>
        </p:spPr>
        <p:txBody>
          <a:bodyPr/>
          <a:p/>
        </p:txBody>
      </p:sp>
      <p:sp>
        <p:nvSpPr>
          <p:cNvPr id="304" name=""/>
          <p:cNvSpPr/>
          <p:nvPr/>
        </p:nvSpPr>
        <p:spPr>
          <a:xfrm rot="0" flipH="0" flipV="0">
            <a:off x="685800" y="2638425"/>
            <a:ext cx="5657850" cy="981075"/>
          </a:xfrm>
          <a:custGeom>
            <a:pathLst>
              <a:path w="594" h="103">
                <a:moveTo>
                  <a:pt x="0" y="0"/>
                </a:moveTo>
                <a:lnTo>
                  <a:pt x="3" y="0"/>
                </a:lnTo>
                <a:lnTo>
                  <a:pt x="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847725" y="2733675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59E0B"/>
                </a:solidFill>
                <a:latin typeface="Microsoft YaHei"/>
                <a:ea typeface="Microsoft YaHei"/>
              </a:rPr>
              <a:t>闸二　职责隔离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847725" y="2971800"/>
            <a:ext cx="5334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模型只做两件事：理解诉求、选工具。风险判定与参数校验全在代码层，模型说了不算。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714375" y="3714750"/>
            <a:ext cx="5629275" cy="704850"/>
          </a:xfrm>
          <a:prstGeom prst="rect">
            <a:avLst/>
          </a:prstGeom>
          <a:solidFill>
            <a:srgbClr val="EF4444">
              <a:alpha val="8000"/>
            </a:srgbClr>
          </a:solidFill>
          <a:ln/>
        </p:spPr>
        <p:txBody>
          <a:bodyPr/>
          <a:p/>
        </p:txBody>
      </p:sp>
      <p:sp>
        <p:nvSpPr>
          <p:cNvPr id="308" name=""/>
          <p:cNvSpPr/>
          <p:nvPr/>
        </p:nvSpPr>
        <p:spPr>
          <a:xfrm rot="0" flipH="0" flipV="0">
            <a:off x="685800" y="3714750"/>
            <a:ext cx="5657850" cy="704850"/>
          </a:xfrm>
          <a:custGeom>
            <a:pathLst>
              <a:path w="594" h="74">
                <a:moveTo>
                  <a:pt x="0" y="0"/>
                </a:moveTo>
                <a:lnTo>
                  <a:pt x="3" y="0"/>
                </a:lnTo>
                <a:lnTo>
                  <a:pt x="3" y="74"/>
                </a:lnTo>
                <a:lnTo>
                  <a:pt x="0" y="74"/>
                </a:lnTo>
                <a:close/>
              </a:path>
            </a:pathLst>
          </a:custGeom>
          <a:solidFill>
            <a:srgbClr val="EF4444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847725" y="381000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F4444"/>
                </a:solidFill>
                <a:latin typeface="Microsoft YaHei"/>
                <a:ea typeface="Microsoft YaHei"/>
              </a:rPr>
              <a:t>闸三　外部内容隔离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847725" y="4048125"/>
            <a:ext cx="53340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外部服务返回按数据处理，不进系统提示词，不当指令读。间接注入因此失效。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714375" y="4514850"/>
            <a:ext cx="5629275" cy="704850"/>
          </a:xfrm>
          <a:prstGeom prst="rect">
            <a:avLst/>
          </a:prstGeom>
          <a:solidFill>
            <a:srgbClr val="3B82F6">
              <a:alpha val="8000"/>
            </a:srgbClr>
          </a:solidFill>
          <a:ln/>
        </p:spPr>
        <p:txBody>
          <a:bodyPr/>
          <a:p/>
        </p:txBody>
      </p:sp>
      <p:sp>
        <p:nvSpPr>
          <p:cNvPr id="312" name=""/>
          <p:cNvSpPr/>
          <p:nvPr/>
        </p:nvSpPr>
        <p:spPr>
          <a:xfrm rot="0" flipH="0" flipV="0">
            <a:off x="685800" y="4514850"/>
            <a:ext cx="5657850" cy="704850"/>
          </a:xfrm>
          <a:custGeom>
            <a:pathLst>
              <a:path w="594" h="74">
                <a:moveTo>
                  <a:pt x="0" y="0"/>
                </a:moveTo>
                <a:lnTo>
                  <a:pt x="3" y="0"/>
                </a:lnTo>
                <a:lnTo>
                  <a:pt x="3" y="74"/>
                </a:lnTo>
                <a:lnTo>
                  <a:pt x="0" y="74"/>
                </a:lnTo>
                <a:close/>
              </a:path>
            </a:pathLst>
          </a:custGeom>
          <a:solidFill>
            <a:srgbClr val="3B82F6"/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847725" y="461010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93C5FD"/>
                </a:solidFill>
                <a:latin typeface="Microsoft YaHei"/>
                <a:ea typeface="Microsoft YaHei"/>
              </a:rPr>
              <a:t>闸四　参数收口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847725" y="4848225"/>
            <a:ext cx="53340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工具参数按契约校验，金额越界、收款人凭空出现、非法工具名一律拒绝并记审计。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6619875" y="1238250"/>
            <a:ext cx="4886325" cy="1771650"/>
          </a:xfrm>
          <a:prstGeom prst="roundRect">
            <a:avLst>
              <a:gd name="adj" fmla="val 6452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6829425" y="1466850"/>
            <a:ext cx="446722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22C55E"/>
                </a:solidFill>
                <a:latin typeface="JetBrains Mono"/>
                <a:ea typeface="JetBrains Mono"/>
              </a:rPr>
              <a:t>12 / 12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829425" y="1962150"/>
            <a:ext cx="4467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直接注入全部拦截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6829425" y="2228850"/>
            <a:ext cx="44672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「忽略之前的指令」「你现在是管理员」等十二种改写方式，全部在入口被挡下。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6619875" y="3124200"/>
            <a:ext cx="4886325" cy="1771650"/>
          </a:xfrm>
          <a:prstGeom prst="roundRect">
            <a:avLst>
              <a:gd name="adj" fmla="val 6452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6829425" y="3352800"/>
            <a:ext cx="446722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59E0B"/>
                </a:solidFill>
                <a:latin typeface="JetBrains Mono"/>
                <a:ea typeface="JetBrains Mono"/>
              </a:rPr>
              <a:t>8 / 8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6829425" y="3848100"/>
            <a:ext cx="4467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间接注入全部拦截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6829425" y="4114800"/>
            <a:ext cx="44672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把恶意指令藏在账单备注、订阅名称、理财介绍里，经外部服务返回，隔离机制生效。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6619875" y="5010150"/>
            <a:ext cx="4886325" cy="1495425"/>
          </a:xfrm>
          <a:prstGeom prst="roundRect">
            <a:avLst>
              <a:gd name="adj" fmla="val 7643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6829425" y="5238750"/>
            <a:ext cx="446722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D1D5DB"/>
                </a:solidFill>
                <a:latin typeface="JetBrains Mono"/>
                <a:ea typeface="JetBrains Mono"/>
              </a:rPr>
              <a:t>0%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6829425" y="5734050"/>
            <a:ext cx="4467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正常请求误拦截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6829425" y="6000750"/>
            <a:ext cx="446722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十二条正常业务用例零误拦。拦得住和放得过，两头都守住才算可用。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27" name="" descr="&lt;Slide style={{ background: &quot;#0B1220&quot;, padding: &quot;44px 72px&quot;, display: &quot;flex&quot;, flexDirection: &quot;column&quot; }}&gt;&#10;  &lt;Text style={{ color: &quot;#6B7280&quot;, fontSize: 14, letterSpacing: 3 }}&gt;核心能力&lt;/Text&gt;&#10;  &lt;Text style={{ color: &quot;#F7F4EC&quot;, fontSize: 34, fontWeight: 700, marginTop: 10 }}&gt;意图理解：规则优先，模型兜底&lt;/Text&gt;&#10;&#10;  &lt;Box style={{ display: &quot;flex&quot;, flexDirection: &quot;row&quot;, gap: 36, marginTop: 32 }}&gt;&#10;    &lt;Box style={{ flex: 1.2, display: &quot;flex&quot;, flexDirection: &quot;column&quot;, gap: 14 }}&gt;&#10;      &lt;Box style={{ background: &quot;rgba(34,197,94,0.08)&quot;, border: &quot;1px solid rgba(34,197,94,0.4)&quot;, borderRadius: 12, padding: &quot;22px 22px&quot; }}&gt;&#10;        &lt;Text style={{ color: &quot;#22C55E&quot;, fontSize: 20, fontWeight: 700 }}&gt;第一层　规则匹配&lt;/Text&gt;&#10;        &lt;Text style={{ color: &quot;#9CA3AF&quot;, fontSize: 16, lineHeight: 1.65, marginTop: 8 }}&gt;十一条意图规则覆盖六类常见表述，一条规则可派生多个工具意图。中英文数字金额一并归一，单轮解析耗时一毫秒内，结果确定可复现。&lt;/Text&gt;&#10;        &lt;Text style={{ color: &quot;#6B7280&quot;, fontSize: 15, marginTop: 12 }}&gt;「转给小王 500」「给房东下周转 3000 房租」都能直接落到工具与槽位。&lt;/Text&gt;&#10;      &lt;/Box&gt;&#10;      &lt;Box style={{ background: &quot;rgba(59,130,246,0.08)&quot;, border: &quot;1px solid rgba(59,130,246,0.4)&quot;, borderRadius: 12, padding: &quot;22px 22px&quot; }}&gt;&#10;        &lt;Text style={{ color: &quot;#93C5FD&quot;, fontSize: 20, fontWeight: 700 }}&gt;第二层　模型兜底&lt;/Text&gt;&#10;        &lt;Text style={{ color: &quot;#9CA3AF&quot;, fontSize: 16, lineHeight: 1.75, marginTop: 10 }}&gt;规则没命中才请模型解析，输出受契约约束：工具名、槽位、置信度、理由。越界工具名或非法槽位值直接丢弃。&lt;/Text&gt;&#10;        &lt;Text style={{ color: &quot;#6B7280&quot;, fontSize: 15, marginTop: 12 }}&gt;响应零点六至零点九秒，失败时回落到追问，不猜。&lt;/Text&gt;&#10;      &lt;/Box&gt;&#10;      &lt;Box style={{ background: &quot;rgba(107,114,128,0.12)&quot;, border: &quot;1px solid rgba(107,114,128,0.4)&quot;, borderRadius: 12, padding: &quot;22px 22px&quot; }}&gt;&#10;        &lt;Text style={{ color: &quot;#D1D5DB&quot;, fontSize: 20, fontWeight: 700 }}&gt;第三层　缺槽追问&lt;/Text&gt;&#10;        &lt;Text style={{ color: &quot;#9CA3AF&quot;, fontSize: 16, lineHeight: 1.75, marginTop: 10 }}&gt;槽位不全不执行。少金额就问金额，少收款人就问收款人，追问结果回填后重走判定流程。&lt;/Text&gt;&#10;        &lt;Text style={{ color: &quot;#6B7280&quot;, fontSize: 15, marginTop: 12 }}&gt;体验官只提建议，不改判定，问句由编排层统一生成。&lt;/Text&gt;&#10;      &lt;/Box&gt;&#10;    &lt;/Box&gt;&#10;&#10;    &lt;Box style={{ flex: 1, background: &quot;rgba(11,18,32,0.6)&quot;, border: &quot;1px solid #374151&quot;, borderRadius: 12, padding: &quot;22px 22px&quot;, display: &quot;flex&quot;, flexDirection: &quot;column&quot; }}&gt;&#10;      &lt;Text style={{ color: &quot;#6B7280&quot;, fontSize: 14, letterSpacing: 2 }}&gt;一次解析的输出&lt;/Text&gt;&#10;      &lt;Text style={{ color: &quot;#22C55E&quot;, fontSize: 15, marginTop: 16, fontFamily: &quot;JetBrains Mono, monospace&quot; }}&gt;意图：智能转账&lt;/Text&gt;&#10;      &lt;Text style={{ color: &quot;#F59E0B&quot;, fontSize: 15, marginTop: 8, fontFamily: &quot;JetBrains Mono, monospace&quot; }}&gt;工具：transfer&lt;/Text&gt;&#10;      &lt;Text style={{ color: &quot;#93C5FD&quot;, fontSize: 15, marginTop: 8, fontFamily: &quot;JetBrains Mono, monospace&quot; }}&gt;收款人：小王&lt;/Text&gt;&#10;      &lt;Text style={{ color: &quot;#F7F4EC&quot;, fontSize: 15, marginTop: 8, fontFamily: &quot;JetBrains Mono, monospace&quot; }}&gt;金额：50000 分&lt;/Text&gt;&#10;      &lt;Text style={{ color: &quot;#9CA3AF&quot;, fontSize: 15, marginTop: 8, fontFamily: &quot;JetBrains Mono, monospace&quot; }}&gt;置信度：0.96&lt;/Text&gt;&#10;      &lt;Text style={{ color: &quot;#6B7280&quot;, fontSize: 15, marginTop: 8, fontFamily: &quot;JetBrains Mono, monospace&quot; }}&gt;理由：出现「转给」与金额&lt;/Text&gt;&#10;      &lt;Text style={{ color: &quot;#6B7280&quot;, fontSize: 14, lineHeight: 1.75, marginTop: 18 }}&gt;金额一律用整数分存储，避免浮点误差。理由与置信度一起落审计，出错时能回看是哪一步判的。&lt;/Text&gt;&#10;      &lt;Box style={{ borderTop: &quot;1px solid #243044&quot;, marginTop: 16, paddingTop: 14, display: &quot;flex&quot;, flexDirection: &quot;column&quot;, gap: 8 }}&gt;&#10;        &lt;Text style={{ color: &quot;#D1D5DB&quot;, fontSize: 14, lineHeight: 1.6 }}&gt;槽位缺失时输出 missing 列表，编排层据此追问。&lt;/Text&gt;&#10;        &lt;Text style={{ color: &quot;#D1D5DB&quot;, fontSize: 14, lineHeight: 1.6 }}&gt;置信度低于阈值时同样走追问，不猜金额。&lt;/Text&gt;&#10;        &lt;Text style={{ color: &quot;#D1D5DB&quot;, fontSize: 14, lineHeight: 1.6 }}&gt;每次解析的耗时与来源一并记录，便于对比规则与模型的表现。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核心能力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意图理解：规则优先，模型兜底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685800" y="1371600"/>
            <a:ext cx="5715000" cy="1619250"/>
          </a:xfrm>
          <a:prstGeom prst="roundRect">
            <a:avLst>
              <a:gd name="adj" fmla="val 7059"/>
            </a:avLst>
          </a:prstGeom>
          <a:solidFill>
            <a:srgbClr val="22C55E">
              <a:alpha val="8000"/>
            </a:srgbClr>
          </a:solidFill>
          <a:ln w="1270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95350" y="1581150"/>
            <a:ext cx="5295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C55E"/>
                </a:solidFill>
                <a:latin typeface="Microsoft YaHei"/>
                <a:ea typeface="Microsoft YaHei"/>
              </a:rPr>
              <a:t>第一层　规则匹配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895350" y="1885950"/>
            <a:ext cx="529590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十一条意图规则覆盖六类常见表述，一条规则可派生多个工具意图。中英文数字金额一并归一，单轮解析耗时一毫秒内，结果确定可复现。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895350" y="2609850"/>
            <a:ext cx="529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「转给小王</a:t>
            </a: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 xml:space="preserve"> 500</a:t>
            </a: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」「给房东下周转</a:t>
            </a: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 xml:space="preserve"> 3000 </a:t>
            </a: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房租」都能直接落到工具与槽位。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685800" y="3124200"/>
            <a:ext cx="5715000" cy="1676400"/>
          </a:xfrm>
          <a:prstGeom prst="roundRect">
            <a:avLst>
              <a:gd name="adj" fmla="val 6818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895350" y="3333750"/>
            <a:ext cx="5295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93C5FD"/>
                </a:solidFill>
                <a:latin typeface="Microsoft YaHei"/>
                <a:ea typeface="Microsoft YaHei"/>
              </a:rPr>
              <a:t>第二层　模型兜底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895350" y="3657600"/>
            <a:ext cx="52959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规则没命中才请模型解析，输出受契约约束：工具名、槽位、置信度、理由。越界工具名或非法槽位值直接丢弃。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895350" y="4419600"/>
            <a:ext cx="529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响应零点六至零点九秒，失败时回落到追问，不猜。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685800" y="4933950"/>
            <a:ext cx="5715000" cy="1676400"/>
          </a:xfrm>
          <a:prstGeom prst="roundRect">
            <a:avLst>
              <a:gd name="adj" fmla="val 6818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895350" y="5143500"/>
            <a:ext cx="5295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1D5DB"/>
                </a:solidFill>
                <a:latin typeface="Microsoft YaHei"/>
                <a:ea typeface="Microsoft YaHei"/>
              </a:rPr>
              <a:t>第三层　缺槽追问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895350" y="5467350"/>
            <a:ext cx="52959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槽位不全不执行。少金额就问金额，少收款人就问收款人，追问结果回填后重走判定流程。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895350" y="6229350"/>
            <a:ext cx="529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体验官只提建议，不改判定，问句由编排层统一生成。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6743700" y="1371600"/>
            <a:ext cx="4762500" cy="5238750"/>
          </a:xfrm>
          <a:prstGeom prst="roundRect">
            <a:avLst>
              <a:gd name="adj" fmla="val 2400"/>
            </a:avLst>
          </a:prstGeom>
          <a:solidFill>
            <a:srgbClr val="0B1220">
              <a:alpha val="6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6953250" y="1581150"/>
            <a:ext cx="434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6B7280"/>
                </a:solidFill>
                <a:latin typeface="Microsoft YaHei"/>
                <a:ea typeface="Microsoft YaHei"/>
              </a:rPr>
              <a:t>一次解析的输出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6953250" y="189547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22C55E"/>
                </a:solidFill>
                <a:latin typeface="JetBrains Mono"/>
                <a:ea typeface="JetBrains Mono"/>
              </a:rPr>
              <a:t>意图：智能转账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6953250" y="2143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59E0B"/>
                </a:solidFill>
                <a:latin typeface="JetBrains Mono"/>
                <a:ea typeface="JetBrains Mono"/>
              </a:rPr>
              <a:t>工具：</a:t>
            </a:r>
            <a:r>
              <a:rPr lang="en-US" sz="1125">
                <a:solidFill>
                  <a:srgbClr val="F59E0B"/>
                </a:solidFill>
                <a:latin typeface="JetBrains Mono"/>
                <a:ea typeface="JetBrains Mono"/>
              </a:rPr>
              <a:t>transfer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6953250" y="239077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3C5FD"/>
                </a:solidFill>
                <a:latin typeface="JetBrains Mono"/>
                <a:ea typeface="JetBrains Mono"/>
              </a:rPr>
              <a:t>收款人：小王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6953250" y="26384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7F4EC"/>
                </a:solidFill>
                <a:latin typeface="JetBrains Mono"/>
                <a:ea typeface="JetBrains Mono"/>
              </a:rPr>
              <a:t>金额：</a:t>
            </a:r>
            <a:r>
              <a:rPr lang="en-US" sz="1125">
                <a:solidFill>
                  <a:srgbClr val="F7F4EC"/>
                </a:solidFill>
                <a:latin typeface="JetBrains Mono"/>
                <a:ea typeface="JetBrains Mono"/>
              </a:rPr>
              <a:t xml:space="preserve">50000 </a:t>
            </a:r>
            <a:r>
              <a:rPr lang="zh-CN" sz="1125">
                <a:solidFill>
                  <a:srgbClr val="F7F4EC"/>
                </a:solidFill>
                <a:latin typeface="JetBrains Mono"/>
                <a:ea typeface="JetBrains Mono"/>
              </a:rPr>
              <a:t>分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953250" y="288607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JetBrains Mono"/>
                <a:ea typeface="JetBrains Mono"/>
              </a:rPr>
              <a:t>置信度：</a:t>
            </a:r>
            <a:r>
              <a:rPr lang="en-US" sz="1125">
                <a:solidFill>
                  <a:srgbClr val="9CA3AF"/>
                </a:solidFill>
                <a:latin typeface="JetBrains Mono"/>
                <a:ea typeface="JetBrains Mono"/>
              </a:rPr>
              <a:t>0.96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953250" y="31337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JetBrains Mono"/>
                <a:ea typeface="JetBrains Mono"/>
              </a:rPr>
              <a:t>理由：出现「转给」与金额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953250" y="3476625"/>
            <a:ext cx="434340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50">
                <a:solidFill>
                  <a:srgbClr val="6B7280"/>
                </a:solidFill>
                <a:latin typeface="Microsoft YaHei"/>
                <a:ea typeface="Microsoft YaHei"/>
              </a:rPr>
              <a:t>金额一律用整数分存储，避免浮点误差。理由与置信度一起落审计，出错时能回看是哪一步判的。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953250" y="4191000"/>
            <a:ext cx="4343400" cy="1076325"/>
          </a:xfrm>
          <a:custGeom>
            <a:pathLst>
              <a:path w="456" h="113">
                <a:moveTo>
                  <a:pt x="0" y="0"/>
                </a:moveTo>
                <a:lnTo>
                  <a:pt x="456" y="0"/>
                </a:lnTo>
                <a:lnTo>
                  <a:pt x="45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3044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6953250" y="4333875"/>
            <a:ext cx="4343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D1D5DB"/>
                </a:solidFill>
                <a:latin typeface="Microsoft YaHei"/>
                <a:ea typeface="Microsoft YaHei"/>
              </a:rPr>
              <a:t>槽位缺失时输出</a:t>
            </a:r>
            <a:r>
              <a:rPr lang="en-US" sz="1050">
                <a:solidFill>
                  <a:srgbClr val="D1D5DB"/>
                </a:solidFill>
                <a:latin typeface="Microsoft YaHei"/>
                <a:ea typeface="Microsoft YaHei"/>
              </a:rPr>
              <a:t xml:space="preserve"> missing </a:t>
            </a:r>
            <a:r>
              <a:rPr lang="zh-CN" sz="1050">
                <a:solidFill>
                  <a:srgbClr val="D1D5DB"/>
                </a:solidFill>
                <a:latin typeface="Microsoft YaHei"/>
                <a:ea typeface="Microsoft YaHei"/>
              </a:rPr>
              <a:t>列表，编排层据此追问。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953250" y="4667250"/>
            <a:ext cx="4343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D1D5DB"/>
                </a:solidFill>
                <a:latin typeface="Microsoft YaHei"/>
                <a:ea typeface="Microsoft YaHei"/>
              </a:rPr>
              <a:t>置信度低于阈值时同样走追问，不猜金额。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6953250" y="5000625"/>
            <a:ext cx="43434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D1D5DB"/>
                </a:solidFill>
                <a:latin typeface="Microsoft YaHei"/>
                <a:ea typeface="Microsoft YaHei"/>
              </a:rPr>
              <a:t>每次解析的耗时与来源一并记录，便于对比规则与模型的表现。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56" name="" descr="&lt;Slide style={{ background: &quot;#0B1220&quot;, padding: &quot;44px 72px&quot;, display: &quot;flex&quot;, flexDirection: &quot;column&quot; }}&gt;&#10;  &lt;Text style={{ color: &quot;#6B7280&quot;, fontSize: 14, letterSpacing: 3 }}&gt;可追溯&lt;/Text&gt;&#10;  &lt;Text style={{ color: &quot;#F7F4EC&quot;, fontSize: 34, fontWeight: 700, marginTop: 10 }}&gt;每条结论都带出处，审计链改一条即断&lt;/Text&gt;&#10;&#10;  &lt;Box style={{ display: &quot;flex&quot;, flexDirection: &quot;row&quot;, gap: 36, marginTop: 32 }}&gt;&#10;    &lt;Box style={{ flex: 1.1, display: &quot;flex&quot;, flexDirection: &quot;column&quot;, gap: 12 }}&gt;&#10;      &lt;Text style={{ color: &quot;#F7F4EC&quot;, fontSize: 20, fontWeight: 600 }}&gt;追加式哈希链&lt;/Text&gt;&#10;      &lt;Box style={{ background: &quot;rgba(59,130,246,0.08)&quot;, border: &quot;1px solid rgba(59,130,246,0.35)&quot;, borderRadius: 12, padding: 22 }}&gt;&#10;        &lt;Text style={{ color: &quot;#93C5FD&quot;, fontSize: 15, fontFamily: &quot;JetBrains Mono, monospace&quot; }}&gt;hash₁ = SHA256(GENESIS + 内容₁)&lt;/Text&gt;&#10;        &lt;Text style={{ color: &quot;#93C5FD&quot;, fontSize: 15, fontFamily: &quot;JetBrains Mono, monospace&quot;, marginTop: 8 }}&gt;hash₂ = SHA256(hash₁ + 内容₂)&lt;/Text&gt;&#10;        &lt;Text style={{ color: &quot;#93C5FD&quot;, fontSize: 15, fontFamily: &quot;JetBrains Mono, monospace&quot;, marginTop: 8 }}&gt;hash₃ = SHA256(hash₂ + 内容₃)&lt;/Text&gt;&#10;      &lt;/Box&gt;&#10;      &lt;Text style={{ color: &quot;#9CA3AF&quot;, fontSize: 16, lineHeight: 1.8 }}&gt;每条记录写入前把上一条的哈希拼进摘要再算哈希。改动中间任意一条，后面全部对不上，篡改无法悄悄通过校验。&lt;/Text&gt;&#10;      &lt;Box style={{ background: &quot;rgba(34,197,94,0.08)&quot;, border: &quot;1px solid rgba(34,197,94,0.35)&quot;, borderRadius: 12, padding: 20 }}&gt;&#10;        &lt;Text style={{ color: &quot;#22C55E&quot;, fontSize: 17, fontWeight: 600 }}&gt;实测：改首行后校验失败&lt;/Text&gt;&#10;        &lt;Text style={{ color: &quot;#9CA3AF&quot;, fontSize: 15, lineHeight: 1.7, marginTop: 8 }}&gt;审计查询接口返回的 chain.ok 字段在校验通过时为真，人工改写一条记录后立刻为假。&lt;/Text&gt;&#10;      &lt;/Box&gt;&#10;      &lt;Box style={{ background: &quot;rgba(59,130,246,0.08)&quot;, border: &quot;1px solid rgba(59,130,246,0.35)&quot;, borderRadius: 12, padding: 20 }}&gt;&#10;        &lt;Text style={{ color: &quot;#93C5FD&quot;, fontSize: 17, fontWeight: 600 }}&gt;只追加，不改写&lt;/Text&gt;&#10;        &lt;Text style={{ color: &quot;#9CA3AF&quot;, fontSize: 15, lineHeight: 1.7, marginTop: 8 }}&gt;审计记录只追加不覆盖，历史条目不可编辑。序号从一开始递增，可据此确认没有丢条。&lt;/Text&gt;&#10;      &lt;/Box&gt;&#10;    &lt;/Box&gt;&#10;&#10;    &lt;Box style={{ flex: 1, display: &quot;flex&quot;, flexDirection: &quot;column&quot;, gap: 12 }}&gt;&#10;      &lt;Text style={{ color: &quot;#F7F4EC&quot;, fontSize: 20, fontWeight: 600 }}&gt;一条记录里有什么&lt;/Text&gt;&#10;      &lt;Box style={{ background: &quot;rgba(107,114,128,0.10)&quot;, border: &quot;1px solid rgba(107,114,128,0.35)&quot;, borderRadius: 12, padding: 22, display: &quot;flex&quot;, flexDirection: &quot;column&quot;, gap: 10 }}&gt;&#10;        &lt;Text style={{ color: &quot;#D1D5DB&quot;, fontSize: 15 }}&gt;序号与时间戳&lt;/Text&gt;&#10;        &lt;Text style={{ color: &quot;#D1D5DB&quot;, fontSize: 15 }}&gt;会话标识与渠道来源&lt;/Text&gt;&#10;        &lt;Text style={{ color: &quot;#D1D5DB&quot;, fontSize: 15 }}&gt;意图、工具、槽位摘要&lt;/Text&gt;&#10;        &lt;Text style={{ color: &quot;#D1D5DB&quot;, fontSize: 15 }}&gt;风险等级与命中的规则编号&lt;/Text&gt;&#10;        &lt;Text style={{ color: &quot;#D1D5DB&quot;, fontSize: 15 }}&gt;蜂群各角色的分工结论&lt;/Text&gt;&#10;        &lt;Text style={{ color: &quot;#D1D5DB&quot;, fontSize: 15 }}&gt;前序哈希与本条哈希&lt;/Text&gt;&#10;      &lt;/Box&gt;&#10;      &lt;Box style={{ background: &quot;rgba(245,158,11,0.08)&quot;, border: &quot;1px solid rgba(245,158,11,0.35)&quot;, borderRadius: 12, padding: 20 }}&gt;&#10;        &lt;Text style={{ color: &quot;#F59E0B&quot;, fontSize: 17, fontWeight: 600 }}&gt;敏感字段脱敏&lt;/Text&gt;&#10;        &lt;Text style={{ color: &quot;#9CA3AF&quot;, fontSize: 15, lineHeight: 1.7, marginTop: 8 }}&gt;卡号只留后四位，手机号中段掩码。审计文件全文检索无明文卡号与手机号。&lt;/Text&gt;&#10;      &lt;/Box&gt;&#10;      &lt;Box style={{ background: &quot;rgba(107,114,128,0.12)&quot;, border: &quot;1px solid rgba(107,114,128,0.35)&quot;, borderRadius: 12, padding: 20 }}&gt;&#10;        &lt;Text style={{ color: &quot;#D1D5DB&quot;, fontSize: 17, fontWeight: 600 }}&gt;查询接口自带校验&lt;/Text&gt;&#10;        &lt;Text style={{ color: &quot;#9CA3AF&quot;, fontSize: 15, lineHeight: 1.7, marginTop: 8 }}&gt;审计查询返回时顺带重算全链，校验结果由 chain.ok 字段给出，界面直接显示通过或失败。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可追溯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每条结论都带出处，审计链改一条即断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685800" y="1371600"/>
            <a:ext cx="5486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7F4EC"/>
                </a:solidFill>
                <a:latin typeface="Microsoft YaHei"/>
                <a:ea typeface="Microsoft YaHei"/>
              </a:rPr>
              <a:t>追加式哈希链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685800" y="1714500"/>
            <a:ext cx="5486400" cy="1085850"/>
          </a:xfrm>
          <a:prstGeom prst="roundRect">
            <a:avLst>
              <a:gd name="adj" fmla="val 10526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895350" y="1924050"/>
            <a:ext cx="506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3C5FD"/>
                </a:solidFill>
                <a:latin typeface="JetBrains Mono"/>
                <a:ea typeface="JetBrains Mono"/>
              </a:rPr>
              <a:t xml:space="preserve">hash₁ = SHA256(GENESIS + </a:t>
            </a:r>
            <a:r>
              <a:rPr lang="zh-CN" sz="1125">
                <a:solidFill>
                  <a:srgbClr val="93C5FD"/>
                </a:solidFill>
                <a:latin typeface="JetBrains Mono"/>
                <a:ea typeface="JetBrains Mono"/>
              </a:rPr>
              <a:t>内容₁</a:t>
            </a:r>
            <a:r>
              <a:rPr lang="en-US" sz="1125">
                <a:solidFill>
                  <a:srgbClr val="93C5FD"/>
                </a:solidFill>
                <a:latin typeface="JetBrains Mono"/>
                <a:ea typeface="JetBrains Mono"/>
              </a:rPr>
              <a:t>)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95350" y="2171700"/>
            <a:ext cx="506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3C5FD"/>
                </a:solidFill>
                <a:latin typeface="JetBrains Mono"/>
                <a:ea typeface="JetBrains Mono"/>
              </a:rPr>
              <a:t xml:space="preserve">hash₂ = SHA256(hash₁ + </a:t>
            </a:r>
            <a:r>
              <a:rPr lang="zh-CN" sz="1125">
                <a:solidFill>
                  <a:srgbClr val="93C5FD"/>
                </a:solidFill>
                <a:latin typeface="JetBrains Mono"/>
                <a:ea typeface="JetBrains Mono"/>
              </a:rPr>
              <a:t>内容₂</a:t>
            </a:r>
            <a:r>
              <a:rPr lang="en-US" sz="1125">
                <a:solidFill>
                  <a:srgbClr val="93C5FD"/>
                </a:solidFill>
                <a:latin typeface="JetBrains Mono"/>
                <a:ea typeface="JetBrains Mono"/>
              </a:rPr>
              <a:t>)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895350" y="2419350"/>
            <a:ext cx="506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3C5FD"/>
                </a:solidFill>
                <a:latin typeface="JetBrains Mono"/>
                <a:ea typeface="JetBrains Mono"/>
              </a:rPr>
              <a:t xml:space="preserve">hash₃ = SHA256(hash₂ + </a:t>
            </a:r>
            <a:r>
              <a:rPr lang="zh-CN" sz="1125">
                <a:solidFill>
                  <a:srgbClr val="93C5FD"/>
                </a:solidFill>
                <a:latin typeface="JetBrains Mono"/>
                <a:ea typeface="JetBrains Mono"/>
              </a:rPr>
              <a:t>内容₃</a:t>
            </a:r>
            <a:r>
              <a:rPr lang="en-US" sz="1125">
                <a:solidFill>
                  <a:srgbClr val="93C5FD"/>
                </a:solidFill>
                <a:latin typeface="JetBrains Mono"/>
                <a:ea typeface="JetBrains Mono"/>
              </a:rPr>
              <a:t>)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685800" y="2914650"/>
            <a:ext cx="54864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每条记录写入前把上一条的哈希拼进摘要再算哈希。改动中间任意一条，后面全部对不上，篡改无法悄悄通过校验。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685800" y="3695700"/>
            <a:ext cx="5486400" cy="1247775"/>
          </a:xfrm>
          <a:prstGeom prst="roundRect">
            <a:avLst>
              <a:gd name="adj" fmla="val 9160"/>
            </a:avLst>
          </a:prstGeom>
          <a:solidFill>
            <a:srgbClr val="22C55E">
              <a:alpha val="8000"/>
            </a:srgbClr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876300" y="3886200"/>
            <a:ext cx="5105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22C55E"/>
                </a:solidFill>
                <a:latin typeface="Microsoft YaHei"/>
                <a:ea typeface="Microsoft YaHei"/>
              </a:rPr>
              <a:t>实测：改首行后校验失败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876300" y="4162425"/>
            <a:ext cx="51054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审计查询接口返回的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 chain.ok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字段在校验通过时为真，人工改写一条记录后立刻为假。</a:t>
            </a:r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685800" y="5057775"/>
            <a:ext cx="5486400" cy="1247775"/>
          </a:xfrm>
          <a:prstGeom prst="roundRect">
            <a:avLst>
              <a:gd name="adj" fmla="val 9160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876300" y="5248275"/>
            <a:ext cx="5105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93C5FD"/>
                </a:solidFill>
                <a:latin typeface="Microsoft YaHei"/>
                <a:ea typeface="Microsoft YaHei"/>
              </a:rPr>
              <a:t>只追加，不改写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876300" y="5524500"/>
            <a:ext cx="51054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审计记录只追加不覆盖，历史条目不可编辑。序号从一开始递增，可据此确认没有丢条。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6515100" y="1371600"/>
            <a:ext cx="4991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7F4EC"/>
                </a:solidFill>
                <a:latin typeface="Microsoft YaHei"/>
                <a:ea typeface="Microsoft YaHei"/>
              </a:rPr>
              <a:t>一条记录里有什么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6515100" y="1714500"/>
            <a:ext cx="4991100" cy="1924050"/>
          </a:xfrm>
          <a:prstGeom prst="roundRect">
            <a:avLst>
              <a:gd name="adj" fmla="val 5941"/>
            </a:avLst>
          </a:prstGeom>
          <a:solidFill>
            <a:srgbClr val="6B7280">
              <a:alpha val="10000"/>
            </a:srgbClr>
          </a:solidFill>
          <a:ln w="12700">
            <a:solidFill>
              <a:srgbClr val="6B728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724650" y="19240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序号与时间戳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724650" y="21907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会话标识与渠道来源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6724650" y="24574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意图、工具、槽位摘要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724650" y="27241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风险等级与命中的规则编号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6724650" y="29908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蜂群各角色的分工结论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724650" y="3257550"/>
            <a:ext cx="4572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前序哈希与本条哈希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515100" y="3752850"/>
            <a:ext cx="4991100" cy="1247775"/>
          </a:xfrm>
          <a:prstGeom prst="roundRect">
            <a:avLst>
              <a:gd name="adj" fmla="val 9160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6705600" y="3943350"/>
            <a:ext cx="4610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59E0B"/>
                </a:solidFill>
                <a:latin typeface="Microsoft YaHei"/>
                <a:ea typeface="Microsoft YaHei"/>
              </a:rPr>
              <a:t>敏感字段脱敏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6705600" y="4219575"/>
            <a:ext cx="46101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卡号只留后四位，手机号中段掩码。审计文件全文检索无明文卡号与手机号。</a:t>
            </a:r>
            <a:endParaRPr/>
          </a:p>
        </p:txBody>
      </p:sp>
      <p:sp>
        <p:nvSpPr>
          <p:cNvPr id="383" name=""/>
          <p:cNvSpPr/>
          <p:nvPr/>
        </p:nvSpPr>
        <p:spPr>
          <a:xfrm rot="0" flipH="0" flipV="0">
            <a:off x="6515100" y="5114925"/>
            <a:ext cx="4991100" cy="1247775"/>
          </a:xfrm>
          <a:prstGeom prst="roundRect">
            <a:avLst>
              <a:gd name="adj" fmla="val 9160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6705600" y="5305425"/>
            <a:ext cx="4610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D1D5DB"/>
                </a:solidFill>
                <a:latin typeface="Microsoft YaHei"/>
                <a:ea typeface="Microsoft YaHei"/>
              </a:rPr>
              <a:t>查询接口自带校验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705600" y="5581650"/>
            <a:ext cx="46101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审计查询返回时顺带重算全链，校验结果由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 chain.ok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字段给出，界面直接显示通过或失败。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工程实现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三套能力收敛成一张工具注册表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685800" y="1352550"/>
            <a:ext cx="1809750" cy="1285875"/>
          </a:xfrm>
          <a:prstGeom prst="roundRect">
            <a:avLst>
              <a:gd name="adj" fmla="val 7407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876300" y="176212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22C55E"/>
                </a:solidFill>
                <a:latin typeface="Microsoft YaHei"/>
                <a:ea typeface="Microsoft YaHei"/>
              </a:rPr>
              <a:t>内置工具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876300" y="2066925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21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个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2686050" y="1352550"/>
            <a:ext cx="8820150" cy="1285875"/>
          </a:xfrm>
          <a:prstGeom prst="roundRect">
            <a:avLst>
              <a:gd name="adj" fmla="val 7407"/>
            </a:avLst>
          </a:prstGeom>
          <a:ln w="12700">
            <a:solidFill>
              <a:srgbClr val="374151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2876550" y="1543050"/>
            <a:ext cx="8439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7F4EC"/>
                </a:solidFill>
                <a:latin typeface="Microsoft YaHei"/>
                <a:ea typeface="Microsoft YaHei"/>
              </a:rPr>
              <a:t>策略表与参数契约是唯一事实来源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2876550" y="1819275"/>
            <a:ext cx="84391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新增一个工具三步：在参数契约加槽位，在策略表加风险画像，在执行层加分支。描述符与模型工具集自动包含，界面的工具清单同步更新。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685800" y="2771775"/>
            <a:ext cx="1809750" cy="1285875"/>
          </a:xfrm>
          <a:prstGeom prst="roundRect">
            <a:avLst>
              <a:gd name="adj" fmla="val 7407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4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876300" y="3181350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93C5FD"/>
                </a:solidFill>
                <a:latin typeface="Microsoft YaHei"/>
                <a:ea typeface="Microsoft YaHei"/>
              </a:rPr>
              <a:t>外部服务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76300" y="3486150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服务</a:t>
            </a:r>
            <a:r>
              <a:rPr lang="en-US" sz="1125">
                <a:solidFill>
                  <a:srgbClr val="9CA3AF"/>
                </a:solidFill>
                <a:latin typeface="Microsoft YaHei"/>
                <a:ea typeface="Microsoft YaHei"/>
              </a:rPr>
              <a:t xml:space="preserve"> 13 </a:t>
            </a: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工具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2686050" y="2771775"/>
            <a:ext cx="8820150" cy="1285875"/>
          </a:xfrm>
          <a:prstGeom prst="roundRect">
            <a:avLst>
              <a:gd name="adj" fmla="val 7407"/>
            </a:avLst>
          </a:prstGeom>
          <a:ln w="12700">
            <a:solidFill>
              <a:srgbClr val="374151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2876550" y="2962275"/>
            <a:ext cx="8439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7F4EC"/>
                </a:solidFill>
                <a:latin typeface="Microsoft YaHei"/>
                <a:ea typeface="Microsoft YaHei"/>
              </a:rPr>
              <a:t>走</a:t>
            </a:r>
            <a:r>
              <a:rPr lang="en-US" sz="1275" b="1">
                <a:solidFill>
                  <a:srgbClr val="F7F4EC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75" b="1">
                <a:solidFill>
                  <a:srgbClr val="F7F4EC"/>
                </a:solidFill>
                <a:latin typeface="Microsoft YaHei"/>
                <a:ea typeface="Microsoft YaHei"/>
              </a:rPr>
              <a:t>协议，独立进程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2876550" y="3238500"/>
            <a:ext cx="84391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汇率、反欺诈、理财费率、生日礼遇四个服务各自独立进程，超时与失败隔离，某个服务挂掉不影响内置工具。外部工具名统一加前缀，既是路由依据也是防伪依据。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685800" y="4191000"/>
            <a:ext cx="1809750" cy="1285875"/>
          </a:xfrm>
          <a:prstGeom prst="roundRect">
            <a:avLst>
              <a:gd name="adj" fmla="val 7407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76300" y="4600575"/>
            <a:ext cx="142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59E0B"/>
                </a:solidFill>
                <a:latin typeface="Microsoft YaHei"/>
                <a:ea typeface="Microsoft YaHei"/>
              </a:rPr>
              <a:t>技能库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76300" y="4905375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按需加载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2686050" y="4191000"/>
            <a:ext cx="8820150" cy="1285875"/>
          </a:xfrm>
          <a:prstGeom prst="roundRect">
            <a:avLst>
              <a:gd name="adj" fmla="val 7407"/>
            </a:avLst>
          </a:prstGeom>
          <a:ln w="12700">
            <a:solidFill>
              <a:srgbClr val="374151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2876550" y="4381500"/>
            <a:ext cx="8439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7F4EC"/>
                </a:solidFill>
                <a:latin typeface="Microsoft YaHei"/>
                <a:ea typeface="Microsoft YaHei"/>
              </a:rPr>
              <a:t>两段式渐进披露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2876550" y="4657725"/>
            <a:ext cx="84391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系统提示词只放目录摘要，每条截断到八十字符。模型判断需要哪一项，再调用加载工具取全文，上限四千字符。提示词体积从一千九百七十一字符降到一百八十四字符。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685800" y="5705475"/>
            <a:ext cx="10820400" cy="3048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注册表三条约束：同名工具直接报错不覆盖，外部工具失败不影响内置，可按来源或按服务器整体移除。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64" name="" descr="&lt;Slide style={{ background: &quot;#0B1220&quot;, padding: &quot;40px 72px 38px&quot;, display: &quot;flex&quot;, flexDirection: &quot;column&quot; }}&gt;&#10;  &lt;Text style={{ color: &quot;#6B7280&quot;, fontSize: 14, letterSpacing: 3 }}&gt;实测数据&lt;/Text&gt;&#10;  &lt;Text style={{ color: &quot;#F7F4EC&quot;, fontSize: 34, fontWeight: 700, marginTop: 10 }}&gt;每一项都有命令与输出可复现&lt;/Text&gt;&#10;&#10;  &lt;Box style={{ display: &quot;flex&quot;, flexDirection: &quot;row&quot;, gap: 22, marginTop: 26 }}&gt;&#10;    &lt;Box style={{ flex: 1.1, display: &quot;flex&quot;, flexDirection: &quot;column&quot; }}&gt;&#10;      &lt;Text style={{ color: &quot;#F7F4EC&quot;, fontSize: 18, fontWeight: 600, marginBottom: 10 }}&gt;测试分布　共 91 项全部通过&lt;/Text&gt;&#10;      &lt;Box style={{ display: &quot;flex&quot;, flexDirection: &quot;row&quot;, gap: 10, flexWrap: &quot;wrap&quot; }}&gt;&#10;        &lt;Box style={{ width: 168, background: &quot;rgba(34,197,94,0.10)&quot;, border: &quot;1px solid rgba(34,197,94,0.35)&quot;, borderRadius: 9, padding: &quot;12px 14px&quot; }}&gt;&#10;          &lt;Text style={{ color: &quot;#22C55E&quot;, fontSize: 24, fontWeight: 700, fontFamily: &quot;JetBrains Mono, monospace&quot; }}&gt;29&lt;/Text&gt;&#10;          &lt;Text style={{ color: &quot;#D1D5DB&quot;, fontSize: 15, marginTop: 4 }}&gt;银行智能体&lt;/Text&gt;&#10;        &lt;/Box&gt;&#10;        &lt;Box style={{ width: 168, background: &quot;rgba(34,197,94,0.10)&quot;, border: &quot;1px solid rgba(34,197,94,0.35)&quot;, borderRadius: 9, padding: &quot;12px 14px&quot; }}&gt;&#10;          &lt;Text style={{ color: &quot;#22C55E&quot;, fontSize: 24, fontWeight: 700, fontFamily: &quot;JetBrains Mono, monospace&quot; }}&gt;15&lt;/Text&gt;&#10;          &lt;Text style={{ color: &quot;#D1D5DB&quot;, fontSize: 15, marginTop: 4 }}&gt;测试骨架&lt;/Text&gt;&#10;        &lt;/Box&gt;&#10;        &lt;Box style={{ width: 168, background: &quot;rgba(34,197,94,0.10)&quot;, border: &quot;1px solid rgba(34,197,94,0.35)&quot;, borderRadius: 9, padding: &quot;12px 14px&quot; }}&gt;&#10;          &lt;Text style={{ color: &quot;#22C55E&quot;, fontSize: 24, fontWeight: 700, fontFamily: &quot;JetBrains Mono, monospace&quot; }}&gt;11&lt;/Text&gt;&#10;          &lt;Text style={{ color: &quot;#D1D5DB&quot;, fontSize: 15, marginTop: 4 }}&gt;蜂群协同&lt;/Text&gt;&#10;        &lt;/Box&gt;&#10;        &lt;Box style={{ width: 168, background: &quot;rgba(245,158,11,0.10)&quot;, border: &quot;1px solid rgba(245,158,11,0.35)&quot;, borderRadius: 9, padding: &quot;12px 14px&quot; }}&gt;&#10;          &lt;Text style={{ color: &quot;#F59E0B&quot;, fontSize: 24, fontWeight: 700, fontFamily: &quot;JetBrains Mono, monospace&quot; }}&gt;9&lt;/Text&gt;&#10;          &lt;Text style={{ color: &quot;#D1D5DB&quot;, fontSize: 15, marginTop: 4 }}&gt;输出契约&lt;/Text&gt;&#10;        &lt;/Box&gt;&#10;        &lt;Box style={{ width: 168, background: &quot;rgba(245,158,11,0.10)&quot;, border: &quot;1px solid rgba(245,158,11,0.35)&quot;, borderRadius: 9, padding: &quot;12px 14px&quot; }}&gt;&#10;          &lt;Text style={{ color: &quot;#F59E0B&quot;, fontSize: 24, fontWeight: 700, fontFamily: &quot;JetBrains Mono, monospace&quot; }}&gt;9&lt;/Text&gt;&#10;          &lt;Text style={{ color: &quot;#D1D5DB&quot;, fontSize: 15, marginTop: 4 }}&gt;智能体循环&lt;/Text&gt;&#10;        &lt;/Box&gt;&#10;        &lt;Box style={{ width: 168, background: &quot;rgba(59,130,246,0.10)&quot;, border: &quot;1px solid rgba(59,130,246,0.35)&quot;, borderRadius: 9, padding: &quot;12px 14px&quot; }}&gt;&#10;          &lt;Text style={{ color: &quot;#93C5FD&quot;, fontSize: 24, fontWeight: 700, fontFamily: &quot;JetBrains Mono, monospace&quot; }}&gt;8&lt;/Text&gt;&#10;          &lt;Text style={{ color: &quot;#D1D5DB&quot;, fontSize: 15, marginTop: 4 }}&gt;技能渐进披露&lt;/Text&gt;&#10;        &lt;/Box&gt;&#10;        &lt;Box style={{ width: 168, background: &quot;rgba(107,114,128,0.12)&quot;, border: &quot;1px solid rgba(107,114,128,0.35)&quot;, borderRadius: 9, padding: &quot;12px 14px&quot; }}&gt;&#10;          &lt;Text style={{ color: &quot;#D1D5DB&quot;, fontSize: 24, fontWeight: 700, fontFamily: &quot;JetBrains Mono, monospace&quot; }}&gt;5&lt;/Text&gt;&#10;          &lt;Text style={{ color: &quot;#D1D5DB&quot;, fontSize: 15, marginTop: 4 }}&gt;真实模型&lt;/Text&gt;&#10;        &lt;/Box&gt;&#10;        &lt;Box style={{ width: 168, background: &quot;rgba(107,114,128,0.12)&quot;, border: &quot;1px solid rgba(107,114,128,0.35)&quot;, borderRadius: 9, padding: &quot;12px 14px&quot; }}&gt;&#10;          &lt;Text style={{ color: &quot;#D1D5DB&quot;, fontSize: 24, fontWeight: 700, fontFamily: &quot;JetBrains Mono, monospace&quot; }}&gt;5&lt;/Text&gt;&#10;          &lt;Text style={{ color: &quot;#D1D5DB&quot;, fontSize: 15, marginTop: 4 }}&gt;模型守卫&lt;/Text&gt;&#10;        &lt;/Box&gt;&#10;      &lt;/Box&gt;&#10;      &lt;Box style={{ background: &quot;rgba(34,197,94,0.12)&quot;, border: &quot;1px solid rgba(34,197,94,0.4)&quot;, borderRadius: 9, padding: &quot;13px 16px&quot;, marginTop: 10 }}&gt;&#10;        &lt;Text style={{ color: &quot;#F7F4EC&quot;, fontSize: 16, lineHeight: 1.65 }}&gt;红队四十条分四组：直接注入十二条、间接注入八条、越权操作八条、正常请求十二条。攻击拦截百分之百，正常请求误拦为零。&lt;/Text&gt;&#10;      &lt;/Box&gt;&#10;    &lt;/Box&gt;&#10;&#10;    &lt;Box style={{ flex: 1, display: &quot;flex&quot;, flexDirection: &quot;column&quot;, gap: 10 }}&gt;&#10;      &lt;Box style={{ background: &quot;rgba(59,130,246,0.08)&quot;, border: &quot;1px solid rgba(59,130,246,0.35)&quot;, borderRadius: 12, padding: 17 }}&gt;&#10;        &lt;Text style={{ color: &quot;#93C5FD&quot;, fontSize: 18, fontWeight: 600 }}&gt;成本与体积&lt;/Text&gt;&#10;        &lt;Text style={{ color: &quot;#9CA3AF&quot;, fontSize: 15, lineHeight: 1.7, marginTop: 7 }}&gt;两轮对话累计三千八百零六个提示词字符，命中前缀缓存三千四百五十六个，命中率百分之九十一。系统提示词从一千九百七十一字符降到一百八十四字符。&lt;/Text&gt;&#10;      &lt;/Box&gt;&#10;      &lt;Box style={{ background: &quot;rgba(107,114,128,0.12)&quot;, border: &quot;1px solid rgba(107,114,128,0.35)&quot;, borderRadius: 12, padding: 17 }}&gt;&#10;        &lt;Text style={{ color: &quot;#D1D5DB&quot;, fontSize: 18, fontWeight: 600 }}&gt;外部服务&lt;/Text&gt;&#10;        &lt;Text style={{ color: &quot;#9CA3AF&quot;, fontSize: 15, lineHeight: 1.7, marginTop: 7 }}&gt;四个服务十三个工具全部可用。样例：兑换一百美元折合七百一十二元人民币，理财适配判定给出不适合并列出原因。&lt;/Text&gt;&#10;      &lt;/Box&gt;&#10;      &lt;Box style={{ background: &quot;rgba(239,68,68,0.08)&quot;, border: &quot;1px solid rgba(239,68,68,0.35)&quot;, borderRadius: 12, padding: 17 }}&gt;&#10;        &lt;Text style={{ color: &quot;#EF4444&quot;, fontSize: 18, fontWeight: 600 }}&gt;模型不服从&lt;/Text&gt;&#10;        &lt;Text style={{ color: &quot;#9CA3AF&quot;, fontSize: 15, lineHeight: 1.7, marginTop: 7 }}&gt;模型被诱导时，越权工具与越界金额仍被代码层拒绝，执行结果不受模型影响。&lt;/Text&gt;&#10;      &lt;/Box&gt;&#10;      &lt;Box style={{ background: &quot;rgba(245,158,11,0.08)&quot;, border: &quot;1px solid rgba(245,158,11,0.35)&quot;, borderRadius: 12, padding: 17 }}&gt;&#10;        &lt;Text style={{ color: &quot;#F59E0B&quot;, fontSize: 18, fontWeight: 600 }}&gt;证据在哪&lt;/Text&gt;&#10;        &lt;Text style={{ color: &quot;#9CA3AF&quot;, fontSize: 15, lineHeight: 1.7, marginTop: 7 }}&gt;《部署说明》第八节列出全部验证命令与完整输出，评委可在本机原样复跑。&lt;/Text&gt;&#10;      &lt;/Box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85800" y="3810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实测数据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85800" y="6381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每一项都有命令与输出可复现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1276350"/>
            <a:ext cx="556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测试分布　共</a:t>
            </a:r>
            <a:r>
              <a:rPr lang="en-US" sz="1350" b="1">
                <a:solidFill>
                  <a:srgbClr val="F7F4EC"/>
                </a:solidFill>
                <a:latin typeface="Microsoft YaHei"/>
                <a:ea typeface="Microsoft YaHei"/>
              </a:rPr>
              <a:t xml:space="preserve"> 91 </a:t>
            </a:r>
            <a:r>
              <a:rPr lang="zh-CN" sz="1350" b="1">
                <a:solidFill>
                  <a:srgbClr val="F7F4EC"/>
                </a:solidFill>
                <a:latin typeface="Microsoft YaHei"/>
                <a:ea typeface="Microsoft YaHei"/>
              </a:rPr>
              <a:t>项全部通过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685800" y="1581150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19150" y="1695450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22C55E"/>
                </a:solidFill>
                <a:latin typeface="JetBrains Mono"/>
                <a:ea typeface="JetBrains Mono"/>
              </a:rPr>
              <a:t>29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819150" y="2009775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银行智能体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2381250" y="1581150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514600" y="1695450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22C55E"/>
                </a:solidFill>
                <a:latin typeface="JetBrains Mono"/>
                <a:ea typeface="JetBrains Mono"/>
              </a:rPr>
              <a:t>15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2514600" y="2009775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测试骨架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4076700" y="1581150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22C55E">
              <a:alpha val="10000"/>
            </a:srgbClr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210050" y="1695450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22C55E"/>
                </a:solidFill>
                <a:latin typeface="JetBrains Mono"/>
                <a:ea typeface="JetBrains Mono"/>
              </a:rPr>
              <a:t>11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4210050" y="2009775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蜂群协同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685800" y="2390775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19150" y="2505075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59E0B"/>
                </a:solidFill>
                <a:latin typeface="JetBrains Mono"/>
                <a:ea typeface="JetBrains Mono"/>
              </a:rPr>
              <a:t>9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19150" y="2819400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输出契约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2381250" y="2390775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F59E0B">
              <a:alpha val="10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2514600" y="2505075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59E0B"/>
                </a:solidFill>
                <a:latin typeface="JetBrains Mono"/>
                <a:ea typeface="JetBrains Mono"/>
              </a:rPr>
              <a:t>9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2514600" y="2819400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智能体循环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4076700" y="2390775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4210050" y="2505075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93C5FD"/>
                </a:solidFill>
                <a:latin typeface="JetBrains Mono"/>
                <a:ea typeface="JetBrains Mono"/>
              </a:rPr>
              <a:t>8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4210050" y="2819400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技能渐进披露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685800" y="3200400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19150" y="3314700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D1D5DB"/>
                </a:solidFill>
                <a:latin typeface="JetBrains Mono"/>
                <a:ea typeface="JetBrains Mono"/>
              </a:rPr>
              <a:t>5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819150" y="3629025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真实模型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2381250" y="3200400"/>
            <a:ext cx="1600200" cy="714375"/>
          </a:xfrm>
          <a:prstGeom prst="roundRect">
            <a:avLst>
              <a:gd name="adj" fmla="val 12000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2514600" y="3314700"/>
            <a:ext cx="1333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D1D5DB"/>
                </a:solidFill>
                <a:latin typeface="JetBrains Mono"/>
                <a:ea typeface="JetBrains Mono"/>
              </a:rPr>
              <a:t>5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2514600" y="3629025"/>
            <a:ext cx="133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D1D5DB"/>
                </a:solidFill>
                <a:latin typeface="Microsoft YaHei"/>
                <a:ea typeface="Microsoft YaHei"/>
              </a:rPr>
              <a:t>模型守卫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85800" y="4010025"/>
            <a:ext cx="5562600" cy="857250"/>
          </a:xfrm>
          <a:prstGeom prst="roundRect">
            <a:avLst>
              <a:gd name="adj" fmla="val 10000"/>
            </a:avLst>
          </a:prstGeom>
          <a:solidFill>
            <a:srgbClr val="22C55E">
              <a:alpha val="12000"/>
            </a:srgbClr>
          </a:solidFill>
          <a:ln w="1270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838200" y="4133850"/>
            <a:ext cx="525780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F7F4EC"/>
                </a:solidFill>
                <a:latin typeface="Microsoft YaHei"/>
                <a:ea typeface="Microsoft YaHei"/>
              </a:rPr>
              <a:t>红队四十条分四组：直接注入十二条、间接注入八条、越权操作八条、正常请求十二条。攻击拦截百分之百，正常请求误拦为零。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6457950" y="1276350"/>
            <a:ext cx="5048250" cy="1476375"/>
          </a:xfrm>
          <a:prstGeom prst="roundRect">
            <a:avLst>
              <a:gd name="adj" fmla="val 7742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6619875" y="1438275"/>
            <a:ext cx="472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93C5FD"/>
                </a:solidFill>
                <a:latin typeface="Microsoft YaHei"/>
                <a:ea typeface="Microsoft YaHei"/>
              </a:rPr>
              <a:t>成本与体积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619875" y="1714500"/>
            <a:ext cx="47244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两轮对话累计三千八百零六个提示词字符，命中前缀缓存三千四百五十六个，命中率百分之九十一。系统提示词从一千九百七十一字符降到一百八十四字符。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6457950" y="2847975"/>
            <a:ext cx="5048250" cy="1190625"/>
          </a:xfrm>
          <a:prstGeom prst="roundRect">
            <a:avLst>
              <a:gd name="adj" fmla="val 9600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619875" y="3009900"/>
            <a:ext cx="472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D1D5DB"/>
                </a:solidFill>
                <a:latin typeface="Microsoft YaHei"/>
                <a:ea typeface="Microsoft YaHei"/>
              </a:rPr>
              <a:t>外部服务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619875" y="3286125"/>
            <a:ext cx="47244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四个服务十三个工具全部可用。样例：兑换一百美元折合七百一十二元人民币，理财适配判定给出不适合并列出原因。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6457950" y="4133850"/>
            <a:ext cx="5048250" cy="1190625"/>
          </a:xfrm>
          <a:prstGeom prst="roundRect">
            <a:avLst>
              <a:gd name="adj" fmla="val 9600"/>
            </a:avLst>
          </a:prstGeom>
          <a:solidFill>
            <a:srgbClr val="EF4444">
              <a:alpha val="8000"/>
            </a:srgbClr>
          </a:solidFill>
          <a:ln w="12700">
            <a:solidFill>
              <a:srgbClr val="EF4444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619875" y="4295775"/>
            <a:ext cx="472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F4444"/>
                </a:solidFill>
                <a:latin typeface="Microsoft YaHei"/>
                <a:ea typeface="Microsoft YaHei"/>
              </a:rPr>
              <a:t>模型不服从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619875" y="4572000"/>
            <a:ext cx="47244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模型被诱导时，越权工具与越界金额仍被代码层拒绝，执行结果不受模型影响。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6457950" y="5419725"/>
            <a:ext cx="5048250" cy="1190625"/>
          </a:xfrm>
          <a:prstGeom prst="roundRect">
            <a:avLst>
              <a:gd name="adj" fmla="val 9600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619875" y="5581650"/>
            <a:ext cx="4724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59E0B"/>
                </a:solidFill>
                <a:latin typeface="Microsoft YaHei"/>
                <a:ea typeface="Microsoft YaHei"/>
              </a:rPr>
              <a:t>证据在哪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619875" y="5857875"/>
            <a:ext cx="47244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9CA3AF"/>
                </a:solidFill>
                <a:latin typeface="Microsoft YaHei"/>
                <a:ea typeface="Microsoft YaHei"/>
              </a:rPr>
              <a:t>《部署说明》第八节列出全部验证命令与完整输出，评委可在本机原样复跑。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0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6B7280"/>
                </a:solidFill>
                <a:latin typeface="Microsoft YaHei"/>
                <a:ea typeface="Microsoft YaHei"/>
              </a:rPr>
              <a:t>安全自评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85800" y="676275"/>
            <a:ext cx="10820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7F4EC"/>
                </a:solidFill>
                <a:latin typeface="Microsoft YaHei"/>
                <a:ea typeface="Microsoft YaHei"/>
              </a:rPr>
              <a:t>已知风险清单，八项，写在报告里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685800" y="1352550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EF4444">
              <a:alpha val="8000"/>
            </a:srgbClr>
          </a:solidFill>
          <a:ln w="12700">
            <a:solidFill>
              <a:srgbClr val="EF4444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819150" y="1485900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EF4444"/>
                </a:solidFill>
                <a:latin typeface="Microsoft YaHei"/>
                <a:ea typeface="Microsoft YaHei"/>
              </a:rPr>
              <a:t>R1</a:t>
            </a:r>
            <a:r>
              <a:rPr lang="zh-CN" sz="1200" b="1">
                <a:solidFill>
                  <a:srgbClr val="EF4444"/>
                </a:solidFill>
                <a:latin typeface="Microsoft YaHei"/>
                <a:ea typeface="Microsoft YaHei"/>
              </a:rPr>
              <a:t>　审计链防不住整段删除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819150" y="1714500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能查出改，查不出删。需外部锚定存证。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685800" y="2200275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EF4444">
              <a:alpha val="8000"/>
            </a:srgbClr>
          </a:solidFill>
          <a:ln w="12700">
            <a:solidFill>
              <a:srgbClr val="EF4444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819150" y="2333625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EF4444"/>
                </a:solidFill>
                <a:latin typeface="Microsoft YaHei"/>
                <a:ea typeface="Microsoft YaHei"/>
              </a:rPr>
              <a:t>R2</a:t>
            </a:r>
            <a:r>
              <a:rPr lang="zh-CN" sz="1200" b="1">
                <a:solidFill>
                  <a:srgbClr val="EF4444"/>
                </a:solidFill>
                <a:latin typeface="Microsoft YaHei"/>
                <a:ea typeface="Microsoft YaHei"/>
              </a:rPr>
              <a:t>　没有真实身份认证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819150" y="2562225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会话按渠道标识建，未接统一认证。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685800" y="3048000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19150" y="3181350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Microsoft YaHei"/>
                <a:ea typeface="Microsoft YaHei"/>
              </a:rPr>
              <a:t>R3</a:t>
            </a:r>
            <a:r>
              <a:rPr lang="zh-CN" sz="1200" b="1">
                <a:solidFill>
                  <a:srgbClr val="F59E0B"/>
                </a:solidFill>
                <a:latin typeface="Microsoft YaHei"/>
                <a:ea typeface="Microsoft YaHei"/>
              </a:rPr>
              <a:t>　文件存储无并发控制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819150" y="3409950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单进程演示可用，多实例部署需换库。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85800" y="3895725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819150" y="4029075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Microsoft YaHei"/>
                <a:ea typeface="Microsoft YaHei"/>
              </a:rPr>
              <a:t>R4</a:t>
            </a:r>
            <a:r>
              <a:rPr lang="zh-CN" sz="1200" b="1">
                <a:solidFill>
                  <a:srgbClr val="F59E0B"/>
                </a:solidFill>
                <a:latin typeface="Microsoft YaHei"/>
                <a:ea typeface="Microsoft YaHei"/>
              </a:rPr>
              <a:t>　模型长尾误判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19150" y="4257675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兜底解析可能抽错槽位，追问可缓解。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6191250" y="1466850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324600" y="1600200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Microsoft YaHei"/>
                <a:ea typeface="Microsoft YaHei"/>
              </a:rPr>
              <a:t>R5</a:t>
            </a:r>
            <a:r>
              <a:rPr lang="zh-CN" sz="1200" b="1">
                <a:solidFill>
                  <a:srgbClr val="F59E0B"/>
                </a:solidFill>
                <a:latin typeface="Microsoft YaHei"/>
                <a:ea typeface="Microsoft YaHei"/>
              </a:rPr>
              <a:t>　提示词语义变体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324600" y="1828800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同义改写可能绕过特征匹配，需持续补规则。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6191250" y="2314575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F59E0B">
              <a:alpha val="8000"/>
            </a:srgbClr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324600" y="2447925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59E0B"/>
                </a:solidFill>
                <a:latin typeface="Microsoft YaHei"/>
                <a:ea typeface="Microsoft YaHei"/>
              </a:rPr>
              <a:t>R6</a:t>
            </a:r>
            <a:r>
              <a:rPr lang="zh-CN" sz="1200" b="1">
                <a:solidFill>
                  <a:srgbClr val="F59E0B"/>
                </a:solidFill>
                <a:latin typeface="Microsoft YaHei"/>
                <a:ea typeface="Microsoft YaHei"/>
              </a:rPr>
              <a:t>　外部服务投毒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6324600" y="2676525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隔离挡住指令注入，挡不住脏数据，需校验上游。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6191250" y="3162300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6324600" y="3295650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1D5DB"/>
                </a:solidFill>
                <a:latin typeface="Microsoft YaHei"/>
                <a:ea typeface="Microsoft YaHei"/>
              </a:rPr>
              <a:t>R7</a:t>
            </a:r>
            <a:r>
              <a:rPr lang="zh-CN" sz="1200" b="1">
                <a:solidFill>
                  <a:srgbClr val="D1D5DB"/>
                </a:solidFill>
                <a:latin typeface="Microsoft YaHei"/>
                <a:ea typeface="Microsoft YaHei"/>
              </a:rPr>
              <a:t>　没有速率限制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324600" y="3524250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模型调用无配额，公网部署前需加网关限流。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6191250" y="4010025"/>
            <a:ext cx="5314950" cy="752475"/>
          </a:xfrm>
          <a:prstGeom prst="roundRect">
            <a:avLst>
              <a:gd name="adj" fmla="val 12658"/>
            </a:avLst>
          </a:prstGeom>
          <a:solidFill>
            <a:srgbClr val="6B7280">
              <a:alpha val="12000"/>
            </a:srgbClr>
          </a:solidFill>
          <a:ln w="12700">
            <a:solidFill>
              <a:srgbClr val="6B7280">
                <a:alpha val="32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324600" y="4143375"/>
            <a:ext cx="5048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1D5DB"/>
                </a:solidFill>
                <a:latin typeface="Microsoft YaHei"/>
                <a:ea typeface="Microsoft YaHei"/>
              </a:rPr>
              <a:t>R8</a:t>
            </a:r>
            <a:r>
              <a:rPr lang="zh-CN" sz="1200" b="1">
                <a:solidFill>
                  <a:srgbClr val="D1D5DB"/>
                </a:solidFill>
                <a:latin typeface="Microsoft YaHei"/>
                <a:ea typeface="Microsoft YaHei"/>
              </a:rPr>
              <a:t>　令牌在前端明文展示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324600" y="4371975"/>
            <a:ext cx="504825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9CA3AF"/>
                </a:solidFill>
                <a:latin typeface="Microsoft YaHei"/>
                <a:ea typeface="Microsoft YaHei"/>
              </a:rPr>
              <a:t>演示用，明文可读，需改为服务端托管会话。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685800" y="5010150"/>
            <a:ext cx="10820400" cy="1390650"/>
          </a:xfrm>
          <a:prstGeom prst="roundRect">
            <a:avLst>
              <a:gd name="adj" fmla="val 8219"/>
            </a:avLst>
          </a:prstGeom>
          <a:solidFill>
            <a:srgbClr val="3B82F6">
              <a:alpha val="8000"/>
            </a:srgbClr>
          </a:solidFill>
          <a:ln w="12700">
            <a:solidFill>
              <a:srgbClr val="3B82F6">
                <a:alpha val="3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95350" y="5219700"/>
            <a:ext cx="10401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93C5FD"/>
                </a:solidFill>
                <a:latin typeface="Microsoft YaHei"/>
                <a:ea typeface="Microsoft YaHei"/>
              </a:rPr>
              <a:t>报告怎么写的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895350" y="5524500"/>
            <a:ext cx="104013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9CA3AF"/>
                </a:solidFill>
                <a:latin typeface="Microsoft YaHei"/>
                <a:ea typeface="Microsoft YaHei"/>
              </a:rPr>
              <a:t>每项风险写清影响、现有缓解、残余风险与改进建议。同时列出未覆盖的测试范围：真实渗透测试、并发压测、密钥轮转流程、多实例部署下的审计一致性。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5915025" y="1323975"/>
            <a:ext cx="361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375">
                <a:solidFill>
                  <a:srgbClr val="6B7280"/>
                </a:solidFill>
                <a:latin typeface="Microsoft YaHei"/>
                <a:ea typeface="Microsoft YaHei"/>
              </a:rPr>
              <a:t>结语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2628900" y="1752600"/>
            <a:ext cx="6934200" cy="1733550"/>
          </a:xfrm>
          <a:prstGeom prst="rect"/>
        </p:spPr>
        <p:txBody>
          <a:bodyPr wrap="none" lIns="0" tIns="0" rIns="0" bIns="0"/>
          <a:p>
            <a:pPr algn="ctr">
              <a:lnSpc>
                <a:spcPct val="135000"/>
              </a:lnSpc>
            </a:pPr>
            <a:r>
              <a:rPr lang="zh-CN" sz="4200" b="1">
                <a:solidFill>
                  <a:srgbClr val="F7F4EC"/>
                </a:solidFill>
                <a:latin typeface="Microsoft YaHei"/>
                <a:ea typeface="Microsoft YaHei"/>
              </a:rPr>
              <a:t>把一件事拆给多个专职角色，</a:t>
            </a:r>
            <a:endParaRPr/>
          </a:p>
          <a:p>
            <a:pPr algn="ctr">
              <a:lnSpc>
                <a:spcPct val="135000"/>
              </a:lnSpc>
            </a:pPr>
            <a:r>
              <a:rPr lang="zh-CN" sz="4200" b="1">
                <a:solidFill>
                  <a:srgbClr val="F7F4EC"/>
                </a:solidFill>
                <a:latin typeface="Microsoft YaHei"/>
                <a:ea typeface="Microsoft YaHei"/>
              </a:rPr>
              <a:t>比换更强的模型更可靠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5638800" y="3829050"/>
            <a:ext cx="914400" cy="5715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>
            <a:pPr/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057650" y="4267200"/>
            <a:ext cx="971550" cy="3905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550" b="1">
                <a:solidFill>
                  <a:srgbClr val="22C55E"/>
                </a:solidFill>
                <a:latin typeface="JetBrains Mono"/>
                <a:ea typeface="JetBrains Mono"/>
              </a:rPr>
              <a:t>五角色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4057650" y="4733925"/>
            <a:ext cx="9715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分工与仲裁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5448300" y="4267200"/>
            <a:ext cx="1295400" cy="3905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550" b="1">
                <a:solidFill>
                  <a:srgbClr val="F59E0B"/>
                </a:solidFill>
                <a:latin typeface="JetBrains Mono"/>
                <a:ea typeface="JetBrains Mono"/>
              </a:rPr>
              <a:t>三色分级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5448300" y="4733925"/>
            <a:ext cx="129540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绿黄红与令牌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7162800" y="4267200"/>
            <a:ext cx="971550" cy="3905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2550" b="1">
                <a:solidFill>
                  <a:srgbClr val="3B82F6"/>
                </a:solidFill>
                <a:latin typeface="JetBrains Mono"/>
                <a:ea typeface="JetBrains Mono"/>
              </a:rPr>
              <a:t>哈希链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7162800" y="4733925"/>
            <a:ext cx="9715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全程可追溯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3267075" y="5324475"/>
            <a:ext cx="5657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9CA3AF"/>
                </a:solidFill>
                <a:latin typeface="Microsoft YaHei"/>
                <a:ea typeface="Microsoft YaHei"/>
              </a:rPr>
              <a:t>代码、文档、部署说明与全部测试用例随提交包提供，可在评委机器上复跑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2026-10-28T15:19:27Z</dcterms:created>
  <dcterms:modified xsi:type="dcterms:W3CDTF">2026-10-28T15:19:27Z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{"AIGC":{"Label":"1","ContentProducer":"00119111010856365494821B355","ProduceID":"01a17cfeaa9e773fa1d7bc5e9b11a347","ReservedCode1":"","ContentPropagator":"00119111010856365494821B355","PropagateID":"01a17cfeaa9e773fa1d7bc5e9b11a347","ReservedCode2":""}}</vt:lpwstr>
  </property>
</Properties>
</file>